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937"/>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0B981"/>
          </a:solidFill>
          <a:ln/>
        </p:spPr>
      </p:sp>
      <p:sp>
        <p:nvSpPr>
          <p:cNvPr id="3" name="Text 1"/>
          <p:cNvSpPr/>
          <p:nvPr/>
        </p:nvSpPr>
        <p:spPr>
          <a:xfrm>
            <a:off x="457200" y="2103120"/>
            <a:ext cx="11274552" cy="1280160"/>
          </a:xfrm>
          <a:prstGeom prst="rect">
            <a:avLst/>
          </a:prstGeom>
          <a:noFill/>
          <a:ln/>
        </p:spPr>
        <p:txBody>
          <a:bodyPr wrap="square"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SFAXI Mohamed Amir</a:t>
            </a:r>
            <a:endParaRPr lang="en-US" sz="4400" dirty="0"/>
          </a:p>
        </p:txBody>
      </p:sp>
      <p:sp>
        <p:nvSpPr>
          <p:cNvPr id="4" name="Text 2"/>
          <p:cNvSpPr/>
          <p:nvPr/>
        </p:nvSpPr>
        <p:spPr>
          <a:xfrm>
            <a:off x="457200" y="3429000"/>
            <a:ext cx="11274552" cy="640080"/>
          </a:xfrm>
          <a:prstGeom prst="rect">
            <a:avLst/>
          </a:prstGeom>
          <a:noFill/>
          <a:ln/>
        </p:spPr>
        <p:txBody>
          <a:bodyPr wrap="square" rtlCol="0" anchor="ctr"/>
          <a:lstStyle/>
          <a:p>
            <a:pPr algn="ctr" indent="0" marL="0">
              <a:buNone/>
            </a:pPr>
            <a:r>
              <a:rPr lang="en-US" sz="2200" i="1" dirty="0">
                <a:solidFill>
                  <a:srgbClr val="10B981"/>
                </a:solidFill>
                <a:latin typeface="Calibri" pitchFamily="34" charset="0"/>
                <a:ea typeface="Calibri" pitchFamily="34" charset="-122"/>
                <a:cs typeface="Calibri" pitchFamily="34" charset="-120"/>
              </a:rPr>
              <a:t>Étudiant Ingénieur en Informatique - Spécialité Intelligence Artificielle</a:t>
            </a:r>
            <a:endParaRPr lang="en-US" sz="2200" dirty="0"/>
          </a:p>
        </p:txBody>
      </p:sp>
      <p:sp>
        <p:nvSpPr>
          <p:cNvPr id="5" name="Shape 3"/>
          <p:cNvSpPr/>
          <p:nvPr/>
        </p:nvSpPr>
        <p:spPr>
          <a:xfrm>
            <a:off x="3351276" y="5486400"/>
            <a:ext cx="5486400" cy="0"/>
          </a:xfrm>
          <a:prstGeom prst="line">
            <a:avLst/>
          </a:prstGeom>
          <a:noFill/>
          <a:ln w="12700">
            <a:solidFill>
              <a:srgbClr val="10B981"/>
            </a:solidFill>
            <a:prstDash val="solid"/>
          </a:ln>
        </p:spPr>
      </p:sp>
      <p:sp>
        <p:nvSpPr>
          <p:cNvPr id="6" name="Text 4"/>
          <p:cNvSpPr/>
          <p:nvPr/>
        </p:nvSpPr>
        <p:spPr>
          <a:xfrm>
            <a:off x="457200" y="5623560"/>
            <a:ext cx="11274552" cy="548640"/>
          </a:xfrm>
          <a:prstGeom prst="rect">
            <a:avLst/>
          </a:prstGeom>
          <a:noFill/>
          <a:ln/>
        </p:spPr>
        <p:txBody>
          <a:bodyPr wrap="square" rtlCol="0" anchor="ctr"/>
          <a:lstStyle/>
          <a:p>
            <a:pPr algn="ctr" indent="0" marL="0">
              <a:buNone/>
            </a:pPr>
            <a:r>
              <a:rPr lang="en-US" sz="1200" dirty="0">
                <a:solidFill>
                  <a:srgbClr val="CBD5E1"/>
                </a:solidFill>
                <a:latin typeface="Calibri" pitchFamily="34" charset="0"/>
                <a:ea typeface="Calibri" pitchFamily="34" charset="-122"/>
                <a:cs typeface="Calibri" pitchFamily="34" charset="-120"/>
              </a:rPr>
              <a:t>mohamedamir.sfaxi@esprit.tn  |  +216 55 416 184  |  Tunis, Tunisie  |  linkedin.com/in/amir-sfaxi-097bb335b</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AFB"/>
        </a:solidFill>
      </p:bgPr>
    </p:bg>
    <p:spTree>
      <p:nvGrpSpPr>
        <p:cNvPr id="1" name=""/>
        <p:cNvGrpSpPr/>
        <p:nvPr/>
      </p:nvGrpSpPr>
      <p:grpSpPr>
        <a:xfrm>
          <a:off x="0" y="0"/>
          <a:ext cx="0" cy="0"/>
          <a:chOff x="0" y="0"/>
          <a:chExt cx="0" cy="0"/>
        </a:xfrm>
      </p:grpSpPr>
      <p:sp>
        <p:nvSpPr>
          <p:cNvPr id="2" name="Shape 0"/>
          <p:cNvSpPr/>
          <p:nvPr/>
        </p:nvSpPr>
        <p:spPr>
          <a:xfrm>
            <a:off x="548640" y="530352"/>
            <a:ext cx="109728" cy="502920"/>
          </a:xfrm>
          <a:prstGeom prst="rect">
            <a:avLst/>
          </a:prstGeom>
          <a:solidFill>
            <a:srgbClr val="10B981"/>
          </a:solidFill>
          <a:ln/>
        </p:spPr>
      </p:sp>
      <p:sp>
        <p:nvSpPr>
          <p:cNvPr id="3" name="Text 1"/>
          <p:cNvSpPr/>
          <p:nvPr/>
        </p:nvSpPr>
        <p:spPr>
          <a:xfrm>
            <a:off x="777240" y="457200"/>
            <a:ext cx="1086307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Profil</a:t>
            </a:r>
            <a:endParaRPr lang="en-US" sz="2800" dirty="0"/>
          </a:p>
        </p:txBody>
      </p:sp>
      <p:sp>
        <p:nvSpPr>
          <p:cNvPr id="4" name="Shape 2"/>
          <p:cNvSpPr/>
          <p:nvPr/>
        </p:nvSpPr>
        <p:spPr>
          <a:xfrm>
            <a:off x="548640" y="1234440"/>
            <a:ext cx="11091672" cy="0"/>
          </a:xfrm>
          <a:prstGeom prst="line">
            <a:avLst/>
          </a:prstGeom>
          <a:noFill/>
          <a:ln w="19050">
            <a:solidFill>
              <a:srgbClr val="10B981"/>
            </a:solidFill>
            <a:prstDash val="solid"/>
          </a:ln>
        </p:spPr>
      </p:sp>
      <p:sp>
        <p:nvSpPr>
          <p:cNvPr id="5" name="Text 3"/>
          <p:cNvSpPr/>
          <p:nvPr/>
        </p:nvSpPr>
        <p:spPr>
          <a:xfrm>
            <a:off x="548640" y="1463040"/>
            <a:ext cx="11091672" cy="3017520"/>
          </a:xfrm>
          <a:prstGeom prst="rect">
            <a:avLst/>
          </a:prstGeom>
          <a:noFill/>
          <a:ln/>
        </p:spPr>
        <p:txBody>
          <a:bodyPr wrap="square" rtlCol="0" anchor="t"/>
          <a:lstStyle/>
          <a:p>
            <a:pPr algn="l" indent="0" marL="0">
              <a:lnSpc>
                <a:spcPct val="125000"/>
              </a:lnSpc>
              <a:buNone/>
            </a:pPr>
            <a:r>
              <a:rPr lang="en-US" sz="1300" dirty="0">
                <a:solidFill>
                  <a:srgbClr val="1F2937"/>
                </a:solidFill>
                <a:latin typeface="Calibri" pitchFamily="34" charset="0"/>
                <a:ea typeface="Calibri" pitchFamily="34" charset="-122"/>
                <a:cs typeface="Calibri" pitchFamily="34" charset="-120"/>
              </a:rPr>
              <a:t>Étudiant ingénieur en informatique spécialisé en Intelligence Artificielle à ESPRIT School of Engineering. Passionné par les LLMs, les systèmes multi-agents et le NLP, avec trois stages en entreprise (ODDO BHF, WEELEARN et WeEbuild) et plusieurs projets IA end-to-end. Certifié NVIDIA DLI, Anthropic, Cisco et IBM. À la recherche d’opportunités en IA appliquée.</a:t>
            </a:r>
            <a:endParaRPr lang="en-US" sz="1300" dirty="0"/>
          </a:p>
        </p:txBody>
      </p:sp>
      <p:sp>
        <p:nvSpPr>
          <p:cNvPr id="6" name="Shape 4"/>
          <p:cNvSpPr/>
          <p:nvPr/>
        </p:nvSpPr>
        <p:spPr>
          <a:xfrm>
            <a:off x="685800" y="4754880"/>
            <a:ext cx="3422904" cy="1280160"/>
          </a:xfrm>
          <a:prstGeom prst="roundRect">
            <a:avLst>
              <a:gd name="adj" fmla="val 5714"/>
            </a:avLst>
          </a:prstGeom>
          <a:solidFill>
            <a:srgbClr val="FFFFFF"/>
          </a:solidFill>
          <a:ln w="12700">
            <a:solidFill>
              <a:srgbClr val="10B981"/>
            </a:solidFill>
            <a:prstDash val="solid"/>
          </a:ln>
        </p:spPr>
      </p:sp>
      <p:sp>
        <p:nvSpPr>
          <p:cNvPr id="7" name="Text 5"/>
          <p:cNvSpPr/>
          <p:nvPr/>
        </p:nvSpPr>
        <p:spPr>
          <a:xfrm>
            <a:off x="685800" y="4892040"/>
            <a:ext cx="3422904" cy="640080"/>
          </a:xfrm>
          <a:prstGeom prst="rect">
            <a:avLst/>
          </a:prstGeom>
          <a:noFill/>
          <a:ln/>
        </p:spPr>
        <p:txBody>
          <a:bodyPr wrap="square" rtlCol="0" anchor="ctr"/>
          <a:lstStyle/>
          <a:p>
            <a:pPr algn="ctr" indent="0" marL="0">
              <a:buNone/>
            </a:pPr>
            <a:r>
              <a:rPr lang="en-US" sz="3000" b="1" dirty="0">
                <a:solidFill>
                  <a:srgbClr val="10B981"/>
                </a:solidFill>
                <a:latin typeface="Calibri" pitchFamily="34" charset="0"/>
                <a:ea typeface="Calibri" pitchFamily="34" charset="-122"/>
                <a:cs typeface="Calibri" pitchFamily="34" charset="-120"/>
              </a:rPr>
              <a:t>2</a:t>
            </a:r>
            <a:endParaRPr lang="en-US" sz="3000" dirty="0"/>
          </a:p>
        </p:txBody>
      </p:sp>
      <p:sp>
        <p:nvSpPr>
          <p:cNvPr id="8" name="Text 6"/>
          <p:cNvSpPr/>
          <p:nvPr/>
        </p:nvSpPr>
        <p:spPr>
          <a:xfrm>
            <a:off x="685800" y="5532120"/>
            <a:ext cx="3422904" cy="41148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années d'expérience</a:t>
            </a:r>
            <a:endParaRPr lang="en-US" sz="1100" dirty="0"/>
          </a:p>
        </p:txBody>
      </p:sp>
      <p:sp>
        <p:nvSpPr>
          <p:cNvPr id="9" name="Shape 7"/>
          <p:cNvSpPr/>
          <p:nvPr/>
        </p:nvSpPr>
        <p:spPr>
          <a:xfrm>
            <a:off x="4383024" y="4754880"/>
            <a:ext cx="3422904" cy="1280160"/>
          </a:xfrm>
          <a:prstGeom prst="roundRect">
            <a:avLst>
              <a:gd name="adj" fmla="val 5714"/>
            </a:avLst>
          </a:prstGeom>
          <a:solidFill>
            <a:srgbClr val="FFFFFF"/>
          </a:solidFill>
          <a:ln w="12700">
            <a:solidFill>
              <a:srgbClr val="10B981"/>
            </a:solidFill>
            <a:prstDash val="solid"/>
          </a:ln>
        </p:spPr>
      </p:sp>
      <p:sp>
        <p:nvSpPr>
          <p:cNvPr id="10" name="Text 8"/>
          <p:cNvSpPr/>
          <p:nvPr/>
        </p:nvSpPr>
        <p:spPr>
          <a:xfrm>
            <a:off x="4383024" y="4892040"/>
            <a:ext cx="3422904" cy="640080"/>
          </a:xfrm>
          <a:prstGeom prst="rect">
            <a:avLst/>
          </a:prstGeom>
          <a:noFill/>
          <a:ln/>
        </p:spPr>
        <p:txBody>
          <a:bodyPr wrap="square" rtlCol="0" anchor="ctr"/>
          <a:lstStyle/>
          <a:p>
            <a:pPr algn="ctr" indent="0" marL="0">
              <a:buNone/>
            </a:pPr>
            <a:r>
              <a:rPr lang="en-US" sz="3000" b="1" dirty="0">
                <a:solidFill>
                  <a:srgbClr val="10B981"/>
                </a:solidFill>
                <a:latin typeface="Calibri" pitchFamily="34" charset="0"/>
                <a:ea typeface="Calibri" pitchFamily="34" charset="-122"/>
                <a:cs typeface="Calibri" pitchFamily="34" charset="-120"/>
              </a:rPr>
              <a:t>47</a:t>
            </a:r>
            <a:endParaRPr lang="en-US" sz="3000" dirty="0"/>
          </a:p>
        </p:txBody>
      </p:sp>
      <p:sp>
        <p:nvSpPr>
          <p:cNvPr id="11" name="Text 9"/>
          <p:cNvSpPr/>
          <p:nvPr/>
        </p:nvSpPr>
        <p:spPr>
          <a:xfrm>
            <a:off x="4383024" y="5532120"/>
            <a:ext cx="3422904" cy="41148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compétences</a:t>
            </a:r>
            <a:endParaRPr lang="en-US" sz="1100" dirty="0"/>
          </a:p>
        </p:txBody>
      </p:sp>
      <p:sp>
        <p:nvSpPr>
          <p:cNvPr id="12" name="Shape 10"/>
          <p:cNvSpPr/>
          <p:nvPr/>
        </p:nvSpPr>
        <p:spPr>
          <a:xfrm>
            <a:off x="8080248" y="4754880"/>
            <a:ext cx="3422904" cy="1280160"/>
          </a:xfrm>
          <a:prstGeom prst="roundRect">
            <a:avLst>
              <a:gd name="adj" fmla="val 5714"/>
            </a:avLst>
          </a:prstGeom>
          <a:solidFill>
            <a:srgbClr val="FFFFFF"/>
          </a:solidFill>
          <a:ln w="12700">
            <a:solidFill>
              <a:srgbClr val="10B981"/>
            </a:solidFill>
            <a:prstDash val="solid"/>
          </a:ln>
        </p:spPr>
      </p:sp>
      <p:sp>
        <p:nvSpPr>
          <p:cNvPr id="13" name="Text 11"/>
          <p:cNvSpPr/>
          <p:nvPr/>
        </p:nvSpPr>
        <p:spPr>
          <a:xfrm>
            <a:off x="8080248" y="4892040"/>
            <a:ext cx="3422904" cy="640080"/>
          </a:xfrm>
          <a:prstGeom prst="rect">
            <a:avLst/>
          </a:prstGeom>
          <a:noFill/>
          <a:ln/>
        </p:spPr>
        <p:txBody>
          <a:bodyPr wrap="square" rtlCol="0" anchor="ctr"/>
          <a:lstStyle/>
          <a:p>
            <a:pPr algn="ctr" indent="0" marL="0">
              <a:buNone/>
            </a:pPr>
            <a:r>
              <a:rPr lang="en-US" sz="3000" b="1" dirty="0">
                <a:solidFill>
                  <a:srgbClr val="10B981"/>
                </a:solidFill>
                <a:latin typeface="Calibri" pitchFamily="34" charset="0"/>
                <a:ea typeface="Calibri" pitchFamily="34" charset="-122"/>
                <a:cs typeface="Calibri" pitchFamily="34" charset="-120"/>
              </a:rPr>
              <a:t>4</a:t>
            </a:r>
            <a:endParaRPr lang="en-US" sz="3000" dirty="0"/>
          </a:p>
        </p:txBody>
      </p:sp>
      <p:sp>
        <p:nvSpPr>
          <p:cNvPr id="14" name="Text 12"/>
          <p:cNvSpPr/>
          <p:nvPr/>
        </p:nvSpPr>
        <p:spPr>
          <a:xfrm>
            <a:off x="8080248" y="5532120"/>
            <a:ext cx="3422904" cy="41148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langues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AFB"/>
        </a:solidFill>
      </p:bgPr>
    </p:bg>
    <p:spTree>
      <p:nvGrpSpPr>
        <p:cNvPr id="1" name=""/>
        <p:cNvGrpSpPr/>
        <p:nvPr/>
      </p:nvGrpSpPr>
      <p:grpSpPr>
        <a:xfrm>
          <a:off x="0" y="0"/>
          <a:ext cx="0" cy="0"/>
          <a:chOff x="0" y="0"/>
          <a:chExt cx="0" cy="0"/>
        </a:xfrm>
      </p:grpSpPr>
      <p:sp>
        <p:nvSpPr>
          <p:cNvPr id="2" name="Shape 0"/>
          <p:cNvSpPr/>
          <p:nvPr/>
        </p:nvSpPr>
        <p:spPr>
          <a:xfrm>
            <a:off x="548640" y="530352"/>
            <a:ext cx="109728" cy="502920"/>
          </a:xfrm>
          <a:prstGeom prst="rect">
            <a:avLst/>
          </a:prstGeom>
          <a:solidFill>
            <a:srgbClr val="10B981"/>
          </a:solidFill>
          <a:ln/>
        </p:spPr>
      </p:sp>
      <p:sp>
        <p:nvSpPr>
          <p:cNvPr id="3" name="Text 1"/>
          <p:cNvSpPr/>
          <p:nvPr/>
        </p:nvSpPr>
        <p:spPr>
          <a:xfrm>
            <a:off x="777240" y="457200"/>
            <a:ext cx="1086307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Expérience professionnelle</a:t>
            </a:r>
            <a:endParaRPr lang="en-US" sz="2800" dirty="0"/>
          </a:p>
        </p:txBody>
      </p:sp>
      <p:sp>
        <p:nvSpPr>
          <p:cNvPr id="4" name="Shape 2"/>
          <p:cNvSpPr/>
          <p:nvPr/>
        </p:nvSpPr>
        <p:spPr>
          <a:xfrm>
            <a:off x="548640" y="1234440"/>
            <a:ext cx="11091672" cy="0"/>
          </a:xfrm>
          <a:prstGeom prst="line">
            <a:avLst/>
          </a:prstGeom>
          <a:noFill/>
          <a:ln w="19050">
            <a:solidFill>
              <a:srgbClr val="10B981"/>
            </a:solidFill>
            <a:prstDash val="solid"/>
          </a:ln>
        </p:spPr>
      </p:sp>
      <p:sp>
        <p:nvSpPr>
          <p:cNvPr id="5" name="Text 3"/>
          <p:cNvSpPr/>
          <p:nvPr/>
        </p:nvSpPr>
        <p:spPr>
          <a:xfrm>
            <a:off x="548640" y="1508760"/>
            <a:ext cx="11091672" cy="1493520"/>
          </a:xfrm>
          <a:prstGeom prst="rect">
            <a:avLst/>
          </a:prstGeom>
          <a:noFill/>
          <a:ln/>
        </p:spPr>
        <p:txBody>
          <a:bodyPr wrap="square" lIns="0" tIns="0" rIns="0" bIns="0" rtlCol="0" anchor="t"/>
          <a:lstStyle/>
          <a:p>
            <a:pPr indent="0" marL="0">
              <a:buNone/>
            </a:pPr>
            <a:r>
              <a:rPr lang="en-US" sz="1700" b="1" dirty="0">
                <a:solidFill>
                  <a:srgbClr val="10B981"/>
                </a:solidFill>
                <a:latin typeface="Calibri" pitchFamily="34" charset="0"/>
                <a:ea typeface="Calibri" pitchFamily="34" charset="-122"/>
                <a:cs typeface="Calibri" pitchFamily="34" charset="-120"/>
              </a:rPr>
              <a:t>Stage - Automatisation Conformité Marketing (GenAI)</a:t>
            </a:r>
            <a:endParaRPr lang="en-US" sz="1700" dirty="0"/>
          </a:p>
          <a:p>
            <a:pPr indent="0" marL="0">
              <a:buNone/>
            </a:pPr>
            <a:r>
              <a:rPr lang="en-US" sz="1200" i="1" dirty="0">
                <a:solidFill>
                  <a:srgbClr val="6B7280"/>
                </a:solidFill>
                <a:latin typeface="Calibri" pitchFamily="34" charset="0"/>
                <a:ea typeface="Calibri" pitchFamily="34" charset="-122"/>
                <a:cs typeface="Calibri" pitchFamily="34" charset="-120"/>
              </a:rPr>
              <a:t>ODDO BHF  —  Sep. 2025 – Déc. 2025  —  Tunis</a:t>
            </a:r>
            <a:endParaRPr lang="en-US" sz="1700" dirty="0"/>
          </a:p>
          <a:p>
            <a:pPr marL="342900" indent="-342900">
              <a:spcAft>
                <a:spcPts val="200"/>
              </a:spcAft>
              <a:buSzPct val="100000"/>
              <a:buChar char="•"/>
            </a:pPr>
            <a:r>
              <a:rPr lang="en-US" sz="1200" dirty="0">
                <a:solidFill>
                  <a:srgbClr val="1F2937"/>
                </a:solidFill>
                <a:latin typeface="Calibri" pitchFamily="34" charset="0"/>
                <a:ea typeface="Calibri" pitchFamily="34" charset="-122"/>
                <a:cs typeface="Calibri" pitchFamily="34" charset="-120"/>
              </a:rPr>
              <a:t>Conception et implémentation d’un pipeline de conformité Human-in-the-Loop basé sur les LLMs (Python, LangChain, RAG). Mapping du corpus de règles de conformité vers les sections des documents marketing pour détection automatique des violations. Architecture modulaire gérant les disclaimers, la validation du prospectus et les vérifications Registration of Funds. Livraison de documents annotés avec références précises aux règles enfreintes.</a:t>
            </a:r>
            <a:endParaRPr lang="en-US" sz="1700" dirty="0"/>
          </a:p>
        </p:txBody>
      </p:sp>
      <p:sp>
        <p:nvSpPr>
          <p:cNvPr id="6" name="Text 4"/>
          <p:cNvSpPr/>
          <p:nvPr/>
        </p:nvSpPr>
        <p:spPr>
          <a:xfrm>
            <a:off x="548640" y="3139440"/>
            <a:ext cx="11091672" cy="1493520"/>
          </a:xfrm>
          <a:prstGeom prst="rect">
            <a:avLst/>
          </a:prstGeom>
          <a:noFill/>
          <a:ln/>
        </p:spPr>
        <p:txBody>
          <a:bodyPr wrap="square" lIns="0" tIns="0" rIns="0" bIns="0" rtlCol="0" anchor="t"/>
          <a:lstStyle/>
          <a:p>
            <a:pPr indent="0" marL="0">
              <a:buNone/>
            </a:pPr>
            <a:r>
              <a:rPr lang="en-US" sz="1700" b="1" dirty="0">
                <a:solidFill>
                  <a:srgbClr val="10B981"/>
                </a:solidFill>
                <a:latin typeface="Calibri" pitchFamily="34" charset="0"/>
                <a:ea typeface="Calibri" pitchFamily="34" charset="-122"/>
                <a:cs typeface="Calibri" pitchFamily="34" charset="-120"/>
              </a:rPr>
              <a:t>Stage NLP / IA - Classification de Sentiments</a:t>
            </a:r>
            <a:endParaRPr lang="en-US" sz="1700" dirty="0"/>
          </a:p>
          <a:p>
            <a:pPr indent="0" marL="0">
              <a:buNone/>
            </a:pPr>
            <a:r>
              <a:rPr lang="en-US" sz="1200" i="1" dirty="0">
                <a:solidFill>
                  <a:srgbClr val="6B7280"/>
                </a:solidFill>
                <a:latin typeface="Calibri" pitchFamily="34" charset="0"/>
                <a:ea typeface="Calibri" pitchFamily="34" charset="-122"/>
                <a:cs typeface="Calibri" pitchFamily="34" charset="-120"/>
              </a:rPr>
              <a:t>WeEbuild  —  Juil. 2025 – Août 2025  —  Rafraf, Bizerte</a:t>
            </a:r>
            <a:endParaRPr lang="en-US" sz="1700" dirty="0"/>
          </a:p>
          <a:p>
            <a:pPr marL="342900" indent="-342900">
              <a:spcAft>
                <a:spcPts val="200"/>
              </a:spcAft>
              <a:buSzPct val="100000"/>
              <a:buChar char="•"/>
            </a:pPr>
            <a:r>
              <a:rPr lang="en-US" sz="1200" dirty="0">
                <a:solidFill>
                  <a:srgbClr val="1F2937"/>
                </a:solidFill>
                <a:latin typeface="Calibri" pitchFamily="34" charset="0"/>
                <a:ea typeface="Calibri" pitchFamily="34" charset="-122"/>
                <a:cs typeface="Calibri" pitchFamily="34" charset="-120"/>
              </a:rPr>
              <a:t>Construction d’un pipeline de prétraitement NLP complet pour le français (nettoyage, lemmatisation spaCy, suppression des stopwords). Implémentation et comparaison de 5 modèles : Naïve Bayes, Régression Logistique, SVM linéaire, LSTM+Word2Vec, CamemBERT fine-tuné. Fine-tuning de CamemBERT sur 3 500 avis internes : 89.3% d’accuracy, F1-macro de 89.0%.</a:t>
            </a:r>
            <a:endParaRPr lang="en-US" sz="1700" dirty="0"/>
          </a:p>
        </p:txBody>
      </p:sp>
      <p:sp>
        <p:nvSpPr>
          <p:cNvPr id="7" name="Text 5"/>
          <p:cNvSpPr/>
          <p:nvPr/>
        </p:nvSpPr>
        <p:spPr>
          <a:xfrm>
            <a:off x="548640" y="4770120"/>
            <a:ext cx="11091672" cy="1493520"/>
          </a:xfrm>
          <a:prstGeom prst="rect">
            <a:avLst/>
          </a:prstGeom>
          <a:noFill/>
          <a:ln/>
        </p:spPr>
        <p:txBody>
          <a:bodyPr wrap="square" lIns="0" tIns="0" rIns="0" bIns="0" rtlCol="0" anchor="t"/>
          <a:lstStyle/>
          <a:p>
            <a:pPr indent="0" marL="0">
              <a:buNone/>
            </a:pPr>
            <a:r>
              <a:rPr lang="en-US" sz="1700" b="1" dirty="0">
                <a:solidFill>
                  <a:srgbClr val="10B981"/>
                </a:solidFill>
                <a:latin typeface="Calibri" pitchFamily="34" charset="0"/>
                <a:ea typeface="Calibri" pitchFamily="34" charset="-122"/>
                <a:cs typeface="Calibri" pitchFamily="34" charset="-120"/>
              </a:rPr>
              <a:t>Stage - Initiation au Développement IT</a:t>
            </a:r>
            <a:endParaRPr lang="en-US" sz="1700" dirty="0"/>
          </a:p>
          <a:p>
            <a:pPr indent="0" marL="0">
              <a:buNone/>
            </a:pPr>
            <a:r>
              <a:rPr lang="en-US" sz="1200" i="1" dirty="0">
                <a:solidFill>
                  <a:srgbClr val="6B7280"/>
                </a:solidFill>
                <a:latin typeface="Calibri" pitchFamily="34" charset="0"/>
                <a:ea typeface="Calibri" pitchFamily="34" charset="-122"/>
                <a:cs typeface="Calibri" pitchFamily="34" charset="-120"/>
              </a:rPr>
              <a:t>WEELEARN  —  Juil. 2023 – Août 2023  —  Tunis</a:t>
            </a:r>
            <a:endParaRPr lang="en-US" sz="1700" dirty="0"/>
          </a:p>
          <a:p>
            <a:pPr marL="342900" indent="-342900">
              <a:spcAft>
                <a:spcPts val="200"/>
              </a:spcAft>
              <a:buSzPct val="100000"/>
              <a:buChar char="•"/>
            </a:pPr>
            <a:r>
              <a:rPr lang="en-US" sz="1200" dirty="0">
                <a:solidFill>
                  <a:srgbClr val="1F2937"/>
                </a:solidFill>
                <a:latin typeface="Calibri" pitchFamily="34" charset="0"/>
                <a:ea typeface="Calibri" pitchFamily="34" charset="-122"/>
                <a:cs typeface="Calibri" pitchFamily="34" charset="-120"/>
              </a:rPr>
              <a:t>Installation et configuration de postes Windows 10 ; déploiement de Microsoft Office et jonction au domaine Active Directory. Installation d’imprimantes réseau HP ; sauvegarde/restauration des données employés ; câblage réseau et switchs. Découverte de l’architecture salle serveurs : switchs, pare-feu Fortinet, routeurs, bases de l’administration de bases de données.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9FAFB"/>
        </a:solidFill>
      </p:bgPr>
    </p:bg>
    <p:spTree>
      <p:nvGrpSpPr>
        <p:cNvPr id="1" name=""/>
        <p:cNvGrpSpPr/>
        <p:nvPr/>
      </p:nvGrpSpPr>
      <p:grpSpPr>
        <a:xfrm>
          <a:off x="0" y="0"/>
          <a:ext cx="0" cy="0"/>
          <a:chOff x="0" y="0"/>
          <a:chExt cx="0" cy="0"/>
        </a:xfrm>
      </p:grpSpPr>
      <p:sp>
        <p:nvSpPr>
          <p:cNvPr id="2" name="Shape 0"/>
          <p:cNvSpPr/>
          <p:nvPr/>
        </p:nvSpPr>
        <p:spPr>
          <a:xfrm>
            <a:off x="548640" y="530352"/>
            <a:ext cx="109728" cy="502920"/>
          </a:xfrm>
          <a:prstGeom prst="rect">
            <a:avLst/>
          </a:prstGeom>
          <a:solidFill>
            <a:srgbClr val="10B981"/>
          </a:solidFill>
          <a:ln/>
        </p:spPr>
      </p:sp>
      <p:sp>
        <p:nvSpPr>
          <p:cNvPr id="3" name="Text 1"/>
          <p:cNvSpPr/>
          <p:nvPr/>
        </p:nvSpPr>
        <p:spPr>
          <a:xfrm>
            <a:off x="777240" y="457200"/>
            <a:ext cx="1086307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Formation</a:t>
            </a:r>
            <a:endParaRPr lang="en-US" sz="2800" dirty="0"/>
          </a:p>
        </p:txBody>
      </p:sp>
      <p:sp>
        <p:nvSpPr>
          <p:cNvPr id="4" name="Shape 2"/>
          <p:cNvSpPr/>
          <p:nvPr/>
        </p:nvSpPr>
        <p:spPr>
          <a:xfrm>
            <a:off x="548640" y="1234440"/>
            <a:ext cx="11091672" cy="0"/>
          </a:xfrm>
          <a:prstGeom prst="line">
            <a:avLst/>
          </a:prstGeom>
          <a:noFill/>
          <a:ln w="19050">
            <a:solidFill>
              <a:srgbClr val="10B981"/>
            </a:solidFill>
            <a:prstDash val="solid"/>
          </a:ln>
        </p:spPr>
      </p:sp>
      <p:sp>
        <p:nvSpPr>
          <p:cNvPr id="5" name="Text 3"/>
          <p:cNvSpPr/>
          <p:nvPr/>
        </p:nvSpPr>
        <p:spPr>
          <a:xfrm>
            <a:off x="548640" y="1554480"/>
            <a:ext cx="11091672" cy="1371600"/>
          </a:xfrm>
          <a:prstGeom prst="rect">
            <a:avLst/>
          </a:prstGeom>
          <a:noFill/>
          <a:ln/>
        </p:spPr>
        <p:txBody>
          <a:bodyPr wrap="square" lIns="0" tIns="0" rIns="0" bIns="0" rtlCol="0" anchor="t"/>
          <a:lstStyle/>
          <a:p>
            <a:pPr indent="0" marL="0">
              <a:buNone/>
            </a:pPr>
            <a:r>
              <a:rPr lang="en-US" sz="1700" b="1" dirty="0">
                <a:solidFill>
                  <a:srgbClr val="10B981"/>
                </a:solidFill>
                <a:latin typeface="Calibri" pitchFamily="34" charset="0"/>
                <a:ea typeface="Calibri" pitchFamily="34" charset="-122"/>
                <a:cs typeface="Calibri" pitchFamily="34" charset="-120"/>
              </a:rPr>
              <a:t>Cycle Ingénieur en Informatique - Spécialité IA</a:t>
            </a:r>
            <a:endParaRPr lang="en-US" sz="1700" dirty="0"/>
          </a:p>
          <a:p>
            <a:pPr indent="0" marL="0">
              <a:buNone/>
            </a:pPr>
            <a:r>
              <a:rPr lang="en-US" sz="1200" i="1" dirty="0">
                <a:solidFill>
                  <a:srgbClr val="6B7280"/>
                </a:solidFill>
                <a:latin typeface="Calibri" pitchFamily="34" charset="0"/>
                <a:ea typeface="Calibri" pitchFamily="34" charset="-122"/>
                <a:cs typeface="Calibri" pitchFamily="34" charset="-120"/>
              </a:rPr>
              <a:t>ESPRIT School of Engineering  —  2024 – 2027</a:t>
            </a:r>
            <a:endParaRPr lang="en-US" sz="1700" dirty="0"/>
          </a:p>
          <a:p>
            <a:pPr indent="0" marL="0">
              <a:buNone/>
            </a:pPr>
            <a:r>
              <a:rPr lang="en-US" sz="1200" dirty="0">
                <a:solidFill>
                  <a:srgbClr val="1F2937"/>
                </a:solidFill>
                <a:latin typeface="Calibri" pitchFamily="34" charset="0"/>
                <a:ea typeface="Calibri" pitchFamily="34" charset="-122"/>
                <a:cs typeface="Calibri" pitchFamily="34" charset="-120"/>
              </a:rPr>
              <a:t>Intelligence Artificielle</a:t>
            </a:r>
            <a:endParaRPr lang="en-US" sz="1700" dirty="0"/>
          </a:p>
        </p:txBody>
      </p:sp>
      <p:sp>
        <p:nvSpPr>
          <p:cNvPr id="6" name="Text 4"/>
          <p:cNvSpPr/>
          <p:nvPr/>
        </p:nvSpPr>
        <p:spPr>
          <a:xfrm>
            <a:off x="548640" y="3017520"/>
            <a:ext cx="11091672" cy="1371600"/>
          </a:xfrm>
          <a:prstGeom prst="rect">
            <a:avLst/>
          </a:prstGeom>
          <a:noFill/>
          <a:ln/>
        </p:spPr>
        <p:txBody>
          <a:bodyPr wrap="square" lIns="0" tIns="0" rIns="0" bIns="0" rtlCol="0" anchor="t"/>
          <a:lstStyle/>
          <a:p>
            <a:pPr indent="0" marL="0">
              <a:buNone/>
            </a:pPr>
            <a:r>
              <a:rPr lang="en-US" sz="1700" b="1" dirty="0">
                <a:solidFill>
                  <a:srgbClr val="10B981"/>
                </a:solidFill>
                <a:latin typeface="Calibri" pitchFamily="34" charset="0"/>
                <a:ea typeface="Calibri" pitchFamily="34" charset="-122"/>
                <a:cs typeface="Calibri" pitchFamily="34" charset="-120"/>
              </a:rPr>
              <a:t>Classes Préparatoires Intégrées - Mathématiques Informatique (MI)</a:t>
            </a:r>
            <a:endParaRPr lang="en-US" sz="1700" dirty="0"/>
          </a:p>
          <a:p>
            <a:pPr indent="0" marL="0">
              <a:buNone/>
            </a:pPr>
            <a:r>
              <a:rPr lang="en-US" sz="1200" i="1" dirty="0">
                <a:solidFill>
                  <a:srgbClr val="6B7280"/>
                </a:solidFill>
                <a:latin typeface="Calibri" pitchFamily="34" charset="0"/>
                <a:ea typeface="Calibri" pitchFamily="34" charset="-122"/>
                <a:cs typeface="Calibri" pitchFamily="34" charset="-120"/>
              </a:rPr>
              <a:t>ESPRIT School of Engineering  —  2022 – 2024</a:t>
            </a:r>
            <a:endParaRPr lang="en-US" sz="1700" dirty="0"/>
          </a:p>
          <a:p>
            <a:pPr indent="0" marL="0">
              <a:buNone/>
            </a:pPr>
            <a:r>
              <a:rPr lang="en-US" sz="1200" dirty="0">
                <a:solidFill>
                  <a:srgbClr val="1F2937"/>
                </a:solidFill>
                <a:latin typeface="Calibri" pitchFamily="34" charset="0"/>
                <a:ea typeface="Calibri" pitchFamily="34" charset="-122"/>
                <a:cs typeface="Calibri" pitchFamily="34" charset="-120"/>
              </a:rPr>
              <a:t>Mathématiques &amp; Informatique</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FAFB"/>
        </a:solidFill>
      </p:bgPr>
    </p:bg>
    <p:spTree>
      <p:nvGrpSpPr>
        <p:cNvPr id="1" name=""/>
        <p:cNvGrpSpPr/>
        <p:nvPr/>
      </p:nvGrpSpPr>
      <p:grpSpPr>
        <a:xfrm>
          <a:off x="0" y="0"/>
          <a:ext cx="0" cy="0"/>
          <a:chOff x="0" y="0"/>
          <a:chExt cx="0" cy="0"/>
        </a:xfrm>
      </p:grpSpPr>
      <p:sp>
        <p:nvSpPr>
          <p:cNvPr id="2" name="Shape 0"/>
          <p:cNvSpPr/>
          <p:nvPr/>
        </p:nvSpPr>
        <p:spPr>
          <a:xfrm>
            <a:off x="548640" y="530352"/>
            <a:ext cx="109728" cy="502920"/>
          </a:xfrm>
          <a:prstGeom prst="rect">
            <a:avLst/>
          </a:prstGeom>
          <a:solidFill>
            <a:srgbClr val="10B981"/>
          </a:solidFill>
          <a:ln/>
        </p:spPr>
      </p:sp>
      <p:sp>
        <p:nvSpPr>
          <p:cNvPr id="3" name="Text 1"/>
          <p:cNvSpPr/>
          <p:nvPr/>
        </p:nvSpPr>
        <p:spPr>
          <a:xfrm>
            <a:off x="777240" y="457200"/>
            <a:ext cx="1086307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Compétences &amp; Langues</a:t>
            </a:r>
            <a:endParaRPr lang="en-US" sz="2800" dirty="0"/>
          </a:p>
        </p:txBody>
      </p:sp>
      <p:sp>
        <p:nvSpPr>
          <p:cNvPr id="4" name="Shape 2"/>
          <p:cNvSpPr/>
          <p:nvPr/>
        </p:nvSpPr>
        <p:spPr>
          <a:xfrm>
            <a:off x="548640" y="1234440"/>
            <a:ext cx="11091672" cy="0"/>
          </a:xfrm>
          <a:prstGeom prst="line">
            <a:avLst/>
          </a:prstGeom>
          <a:noFill/>
          <a:ln w="19050">
            <a:solidFill>
              <a:srgbClr val="10B981"/>
            </a:solidFill>
            <a:prstDash val="solid"/>
          </a:ln>
        </p:spPr>
      </p:sp>
      <p:sp>
        <p:nvSpPr>
          <p:cNvPr id="5" name="Text 3"/>
          <p:cNvSpPr/>
          <p:nvPr/>
        </p:nvSpPr>
        <p:spPr>
          <a:xfrm>
            <a:off x="548640" y="1554480"/>
            <a:ext cx="5317236" cy="365760"/>
          </a:xfrm>
          <a:prstGeom prst="rect">
            <a:avLst/>
          </a:prstGeom>
          <a:noFill/>
          <a:ln/>
        </p:spPr>
        <p:txBody>
          <a:bodyPr wrap="square"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Compétences</a:t>
            </a:r>
            <a:endParaRPr lang="en-US" sz="1400" dirty="0"/>
          </a:p>
        </p:txBody>
      </p:sp>
      <p:sp>
        <p:nvSpPr>
          <p:cNvPr id="6" name="Text 4"/>
          <p:cNvSpPr/>
          <p:nvPr/>
        </p:nvSpPr>
        <p:spPr>
          <a:xfrm>
            <a:off x="548640" y="2011680"/>
            <a:ext cx="5317236" cy="4389120"/>
          </a:xfrm>
          <a:prstGeom prst="rect">
            <a:avLst/>
          </a:prstGeom>
          <a:noFill/>
          <a:ln/>
        </p:spPr>
        <p:txBody>
          <a:bodyPr wrap="square" lIns="0" tIns="0" rIns="0" bIns="0" rtlCol="0" anchor="t"/>
          <a:lstStyle/>
          <a:p>
            <a:pPr indent="0" marL="0">
              <a:spcBef>
                <a:spcPts val="400"/>
              </a:spcBef>
              <a:buNone/>
            </a:pPr>
            <a:r>
              <a:rPr lang="en-US" sz="1300" b="1" dirty="0">
                <a:solidFill>
                  <a:srgbClr val="10B981"/>
                </a:solidFill>
                <a:latin typeface="Calibri" pitchFamily="34" charset="0"/>
                <a:ea typeface="Calibri" pitchFamily="34" charset="-122"/>
                <a:cs typeface="Calibri" pitchFamily="34" charset="-120"/>
              </a:rPr>
              <a:t>technique</a:t>
            </a:r>
            <a:endParaRPr lang="en-US" sz="1300" dirty="0"/>
          </a:p>
          <a:p>
            <a:pPr indent="0" marL="0">
              <a:spcAft>
                <a:spcPts val="600"/>
              </a:spcAft>
              <a:buNone/>
            </a:pPr>
            <a:r>
              <a:rPr lang="en-US" sz="1100" dirty="0">
                <a:solidFill>
                  <a:srgbClr val="1F2937"/>
                </a:solidFill>
                <a:latin typeface="Calibri" pitchFamily="34" charset="0"/>
                <a:ea typeface="Calibri" pitchFamily="34" charset="-122"/>
                <a:cs typeface="Calibri" pitchFamily="34" charset="-120"/>
              </a:rPr>
              <a:t>Python  •  C  •  C++  •  Java  •  JavaScript  •  PHP  •  SQL  •  HTML/CSS  •  Django  •  FastAPI  •  Node.js  •  FlutterFlow  •  PyTorch  •  TensorFlow/Keras  •  scikit-learn  •  Hugging Face  •  spaCy  •  LangChain  •  LangGraph  •  NLTK  •  OpenAI API  •  Anthropic Claude  •  MCP  •  A2A  •  RAG  •  OpenCV  •  EfficientNet  •  ResNet  •  CNN  •  Unity  •  AR Foundation  •  Meta Quest 3  •  Dart  •  ROS2  •  TurtleBot3  •  PIC16F84  •  Arduino UNO  •  pandas  •  NumPy  •  Matplotlib  •  Power BI  •  SSIS  •  SSMS  •  Git  •  GitHub  •  Linux  •  Windows</a:t>
            </a:r>
            <a:endParaRPr lang="en-US" sz="1300" dirty="0"/>
          </a:p>
        </p:txBody>
      </p:sp>
      <p:sp>
        <p:nvSpPr>
          <p:cNvPr id="7" name="Text 5"/>
          <p:cNvSpPr/>
          <p:nvPr/>
        </p:nvSpPr>
        <p:spPr>
          <a:xfrm>
            <a:off x="6323076" y="1554480"/>
            <a:ext cx="5317236" cy="365760"/>
          </a:xfrm>
          <a:prstGeom prst="rect">
            <a:avLst/>
          </a:prstGeom>
          <a:noFill/>
          <a:ln/>
        </p:spPr>
        <p:txBody>
          <a:bodyPr wrap="square"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Langues</a:t>
            </a:r>
            <a:endParaRPr lang="en-US" sz="1400" dirty="0"/>
          </a:p>
        </p:txBody>
      </p:sp>
      <p:sp>
        <p:nvSpPr>
          <p:cNvPr id="8" name="Text 6"/>
          <p:cNvSpPr/>
          <p:nvPr/>
        </p:nvSpPr>
        <p:spPr>
          <a:xfrm>
            <a:off x="6323076" y="2011680"/>
            <a:ext cx="5317236" cy="438912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Arabe</a:t>
            </a:r>
            <a:pPr indent="0" marL="0">
              <a:buNone/>
            </a:pPr>
            <a:r>
              <a:rPr lang="en-US" sz="1200" i="1" dirty="0">
                <a:solidFill>
                  <a:srgbClr val="6B7280"/>
                </a:solidFill>
                <a:latin typeface="Calibri" pitchFamily="34" charset="0"/>
                <a:ea typeface="Calibri" pitchFamily="34" charset="-122"/>
                <a:cs typeface="Calibri" pitchFamily="34" charset="-120"/>
              </a:rPr>
              <a:t> — Langue maternelle</a:t>
            </a:r>
            <a:endParaRPr lang="en-US" sz="1300" dirty="0"/>
          </a:p>
          <a:p>
            <a:pPr indent="0" marL="0">
              <a:buNone/>
            </a:pPr>
            <a:r>
              <a:rPr lang="en-US" sz="1300" b="1" dirty="0">
                <a:solidFill>
                  <a:srgbClr val="1F2937"/>
                </a:solidFill>
                <a:latin typeface="Calibri" pitchFamily="34" charset="0"/>
                <a:ea typeface="Calibri" pitchFamily="34" charset="-122"/>
                <a:cs typeface="Calibri" pitchFamily="34" charset="-120"/>
              </a:rPr>
              <a:t>Français</a:t>
            </a:r>
            <a:pPr indent="0" marL="0">
              <a:buNone/>
            </a:pPr>
            <a:r>
              <a:rPr lang="en-US" sz="1200" i="1" dirty="0">
                <a:solidFill>
                  <a:srgbClr val="6B7280"/>
                </a:solidFill>
                <a:latin typeface="Calibri" pitchFamily="34" charset="0"/>
                <a:ea typeface="Calibri" pitchFamily="34" charset="-122"/>
                <a:cs typeface="Calibri" pitchFamily="34" charset="-120"/>
              </a:rPr>
              <a:t> — B2</a:t>
            </a:r>
            <a:endParaRPr lang="en-US" sz="1300" dirty="0"/>
          </a:p>
          <a:p>
            <a:pPr indent="0" marL="0">
              <a:buNone/>
            </a:pPr>
            <a:r>
              <a:rPr lang="en-US" sz="1300" b="1" dirty="0">
                <a:solidFill>
                  <a:srgbClr val="1F2937"/>
                </a:solidFill>
                <a:latin typeface="Calibri" pitchFamily="34" charset="0"/>
                <a:ea typeface="Calibri" pitchFamily="34" charset="-122"/>
                <a:cs typeface="Calibri" pitchFamily="34" charset="-120"/>
              </a:rPr>
              <a:t>Anglais</a:t>
            </a:r>
            <a:pPr indent="0" marL="0">
              <a:buNone/>
            </a:pPr>
            <a:r>
              <a:rPr lang="en-US" sz="1200" i="1" dirty="0">
                <a:solidFill>
                  <a:srgbClr val="6B7280"/>
                </a:solidFill>
                <a:latin typeface="Calibri" pitchFamily="34" charset="0"/>
                <a:ea typeface="Calibri" pitchFamily="34" charset="-122"/>
                <a:cs typeface="Calibri" pitchFamily="34" charset="-120"/>
              </a:rPr>
              <a:t> — B2</a:t>
            </a:r>
            <a:endParaRPr lang="en-US" sz="1300" dirty="0"/>
          </a:p>
          <a:p>
            <a:pPr indent="0" marL="0">
              <a:buNone/>
            </a:pPr>
            <a:r>
              <a:rPr lang="en-US" sz="1300" b="1" dirty="0">
                <a:solidFill>
                  <a:srgbClr val="1F2937"/>
                </a:solidFill>
                <a:latin typeface="Calibri" pitchFamily="34" charset="0"/>
                <a:ea typeface="Calibri" pitchFamily="34" charset="-122"/>
                <a:cs typeface="Calibri" pitchFamily="34" charset="-120"/>
              </a:rPr>
              <a:t>Espagnol</a:t>
            </a:r>
            <a:pPr indent="0" marL="0">
              <a:buNone/>
            </a:pPr>
            <a:r>
              <a:rPr lang="en-US" sz="1200" i="1" dirty="0">
                <a:solidFill>
                  <a:srgbClr val="6B7280"/>
                </a:solidFill>
                <a:latin typeface="Calibri" pitchFamily="34" charset="0"/>
                <a:ea typeface="Calibri" pitchFamily="34" charset="-122"/>
                <a:cs typeface="Calibri" pitchFamily="34" charset="-120"/>
              </a:rPr>
              <a:t> — A2</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AFB"/>
        </a:solidFill>
      </p:bgPr>
    </p:bg>
    <p:spTree>
      <p:nvGrpSpPr>
        <p:cNvPr id="1" name=""/>
        <p:cNvGrpSpPr/>
        <p:nvPr/>
      </p:nvGrpSpPr>
      <p:grpSpPr>
        <a:xfrm>
          <a:off x="0" y="0"/>
          <a:ext cx="0" cy="0"/>
          <a:chOff x="0" y="0"/>
          <a:chExt cx="0" cy="0"/>
        </a:xfrm>
      </p:grpSpPr>
      <p:sp>
        <p:nvSpPr>
          <p:cNvPr id="2" name="Shape 0"/>
          <p:cNvSpPr/>
          <p:nvPr/>
        </p:nvSpPr>
        <p:spPr>
          <a:xfrm>
            <a:off x="548640" y="530352"/>
            <a:ext cx="109728" cy="502920"/>
          </a:xfrm>
          <a:prstGeom prst="rect">
            <a:avLst/>
          </a:prstGeom>
          <a:solidFill>
            <a:srgbClr val="10B981"/>
          </a:solidFill>
          <a:ln/>
        </p:spPr>
      </p:sp>
      <p:sp>
        <p:nvSpPr>
          <p:cNvPr id="3" name="Text 1"/>
          <p:cNvSpPr/>
          <p:nvPr/>
        </p:nvSpPr>
        <p:spPr>
          <a:xfrm>
            <a:off x="777240" y="457200"/>
            <a:ext cx="10863072" cy="640080"/>
          </a:xfrm>
          <a:prstGeom prst="rect">
            <a:avLst/>
          </a:prstGeom>
          <a:noFill/>
          <a:ln/>
        </p:spPr>
        <p:txBody>
          <a:bodyPr wrap="square" rtlCol="0" anchor="ctr"/>
          <a:lstStyle/>
          <a:p>
            <a:pPr indent="0" marL="0">
              <a:buNone/>
            </a:pPr>
            <a:r>
              <a:rPr lang="en-US" sz="2800" b="1" dirty="0">
                <a:solidFill>
                  <a:srgbClr val="1F2937"/>
                </a:solidFill>
                <a:latin typeface="Calibri" pitchFamily="34" charset="0"/>
                <a:ea typeface="Calibri" pitchFamily="34" charset="-122"/>
                <a:cs typeface="Calibri" pitchFamily="34" charset="-120"/>
              </a:rPr>
              <a:t>Projets &amp; Certifications</a:t>
            </a:r>
            <a:endParaRPr lang="en-US" sz="2800" dirty="0"/>
          </a:p>
        </p:txBody>
      </p:sp>
      <p:sp>
        <p:nvSpPr>
          <p:cNvPr id="4" name="Shape 2"/>
          <p:cNvSpPr/>
          <p:nvPr/>
        </p:nvSpPr>
        <p:spPr>
          <a:xfrm>
            <a:off x="548640" y="1234440"/>
            <a:ext cx="11091672" cy="0"/>
          </a:xfrm>
          <a:prstGeom prst="line">
            <a:avLst/>
          </a:prstGeom>
          <a:noFill/>
          <a:ln w="19050">
            <a:solidFill>
              <a:srgbClr val="10B981"/>
            </a:solidFill>
            <a:prstDash val="solid"/>
          </a:ln>
        </p:spPr>
      </p:sp>
      <p:sp>
        <p:nvSpPr>
          <p:cNvPr id="5" name="Text 3"/>
          <p:cNvSpPr/>
          <p:nvPr/>
        </p:nvSpPr>
        <p:spPr>
          <a:xfrm>
            <a:off x="548640" y="1554480"/>
            <a:ext cx="5317236" cy="365760"/>
          </a:xfrm>
          <a:prstGeom prst="rect">
            <a:avLst/>
          </a:prstGeom>
          <a:noFill/>
          <a:ln/>
        </p:spPr>
        <p:txBody>
          <a:bodyPr wrap="square"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Projets</a:t>
            </a:r>
            <a:endParaRPr lang="en-US" sz="1400" dirty="0"/>
          </a:p>
        </p:txBody>
      </p:sp>
      <p:sp>
        <p:nvSpPr>
          <p:cNvPr id="6" name="Text 4"/>
          <p:cNvSpPr/>
          <p:nvPr/>
        </p:nvSpPr>
        <p:spPr>
          <a:xfrm>
            <a:off x="548640" y="2011680"/>
            <a:ext cx="5317236" cy="4389120"/>
          </a:xfrm>
          <a:prstGeom prst="rect">
            <a:avLst/>
          </a:prstGeom>
          <a:noFill/>
          <a:ln/>
        </p:spPr>
        <p:txBody>
          <a:bodyPr wrap="square" lIns="0" tIns="0" rIns="0" bIns="0" rtlCol="0" anchor="t"/>
          <a:lstStyle/>
          <a:p>
            <a:pPr indent="0" marL="0">
              <a:buNone/>
            </a:pPr>
            <a:r>
              <a:rPr lang="en-US" sz="1300" b="1" dirty="0">
                <a:solidFill>
                  <a:srgbClr val="10B981"/>
                </a:solidFill>
                <a:latin typeface="Calibri" pitchFamily="34" charset="0"/>
                <a:ea typeface="Calibri" pitchFamily="34" charset="-122"/>
                <a:cs typeface="Calibri" pitchFamily="34" charset="-120"/>
              </a:rPr>
              <a:t>Projet AR / VR / MR - Unity &amp; Meta Quest 3</a:t>
            </a:r>
            <a:endParaRPr lang="en-US" sz="13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Développement d’expériences immersives en Réalité Augmentée, Virtuelle et Mixte avec Unity et le casque Meta Quest 3. Conception d’interactions XR (controllers, hand-tracking) et intégration d’assets 3D dans des environ…</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Système IA d’Assistance aux Personnes Âgées - Architecture 5 Agents (A2A + MCP)</a:t>
            </a:r>
            <a:endParaRPr lang="en-US" sz="13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Application mobile IA pour accompagner les personnes âgées vivant seules, préservant autonomie et lien familial. Architecture 5 agents (Companion, Analyzer, Memory, Services, Connections) communicant via le protocole MC…</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Milo Vet Care - Assistant Vétérinaire IA (6 Sous-systèmes)</a:t>
            </a:r>
            <a:endParaRPr lang="en-US" sz="13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Application vétérinaire IA mobile destinée aux régions sous-desservies (Tunisie rurale), développée selon la méthodologie CBL en partenariat avec la Clinique Vétérinaire Ariana (CVA). Classification d’espèces animales p…</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Projet Robotique - TurtleBot3</a:t>
            </a:r>
            <a:endParaRPr lang="en-US" sz="13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Programmation et contrôle du robot TurtleBot3 via ROS2 : navigation autonome, cartographie et évitement d’obstacles. Implémentation d’algorithmes de déplacement et de perception dans un environnement réel. Technologies…</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Application Mobile Salle de Sport avec IA - FlutterFlow</a:t>
            </a:r>
            <a:endParaRPr lang="en-US" sz="13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Application mobile pour la gestion d’une salle de sport (abonnements, séances, suivi membres). Intégration de fonctionnalités IA : recommandations d’entraînement personnalisées et suivi intelligent des performances. Tec…</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Analyse Environnementale &amp; Santé Publique (ML &amp; Entrepôt de Données)</a:t>
            </a:r>
            <a:endParaRPr lang="en-US" sz="13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Entrepôt de données en schéma étoile intégrant données de pollution, santé, trafic et démographiques (New York). Modèles ML (classification des niveaux de risque, régression PM2.5 &amp; SO2, clustering régional). Tableaux d…</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Application Web Sportive - Gestion de Projet Agile (Scrum Master)</a:t>
            </a:r>
            <a:endParaRPr lang="en-US" sz="13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Développement d’une application web dédiée au sport (gestion des entraînements, réservations de séances, suivi des performances). Pilotage du projet selon la méthodologie Agile Scrum en tant que Scrum Master (sprint pla…</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Distributeur de Boissons &amp; Snacks - Microcontrôleur PIC16F84</a:t>
            </a:r>
            <a:endParaRPr lang="en-US" sz="13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Conception et programmation d’un distributeur automatique de boissons et snacks sur microcontrôleur PIC16F84 en C (gestion des entrées/sorties, moteurs, afficheur). Technologies : C, PIC16F84, MPLAB, Proteus.</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Application Desktop Centre de Kinésithérapie</a:t>
            </a:r>
            <a:endParaRPr lang="en-US" sz="13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Système de gestion des dossiers patients, rendez-vous et séances de thérapie. Conception d’une maquette physique avec Arduino UNO pour simuler des interactions matérielles. Technologies : C++, Qt, Arduino UNO.</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Jeu 2D SDL - Projet Programmation Système</a:t>
            </a:r>
            <a:endParaRPr lang="en-US" sz="1300" dirty="0"/>
          </a:p>
          <a:p>
            <a:pPr indent="0" marL="0">
              <a:spcAft>
                <a:spcPts val="400"/>
              </a:spcAft>
              <a:buNone/>
            </a:pPr>
            <a:r>
              <a:rPr lang="en-US" sz="1100" dirty="0">
                <a:solidFill>
                  <a:srgbClr val="1F2937"/>
                </a:solidFill>
                <a:latin typeface="Calibri" pitchFamily="34" charset="0"/>
                <a:ea typeface="Calibri" pitchFamily="34" charset="-122"/>
                <a:cs typeface="Calibri" pitchFamily="34" charset="-120"/>
              </a:rPr>
              <a:t>Conception et développement d’un jeu 2D illustrant la logique de jeu, le rendu graphique et la gestion des événements. Fabrication d’une manette physique sur mesure avec Arduino UNO interfacée via port série. Technologi…</a:t>
            </a:r>
            <a:endParaRPr lang="en-US" sz="1300" dirty="0"/>
          </a:p>
        </p:txBody>
      </p:sp>
      <p:sp>
        <p:nvSpPr>
          <p:cNvPr id="7" name="Text 5"/>
          <p:cNvSpPr/>
          <p:nvPr/>
        </p:nvSpPr>
        <p:spPr>
          <a:xfrm>
            <a:off x="6323076" y="1554480"/>
            <a:ext cx="5317236" cy="365760"/>
          </a:xfrm>
          <a:prstGeom prst="rect">
            <a:avLst/>
          </a:prstGeom>
          <a:noFill/>
          <a:ln/>
        </p:spPr>
        <p:txBody>
          <a:bodyPr wrap="square"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Certifications</a:t>
            </a:r>
            <a:endParaRPr lang="en-US" sz="1400" dirty="0"/>
          </a:p>
        </p:txBody>
      </p:sp>
      <p:sp>
        <p:nvSpPr>
          <p:cNvPr id="8" name="Text 6"/>
          <p:cNvSpPr/>
          <p:nvPr/>
        </p:nvSpPr>
        <p:spPr>
          <a:xfrm>
            <a:off x="6323076" y="2011680"/>
            <a:ext cx="5317236" cy="4389120"/>
          </a:xfrm>
          <a:prstGeom prst="rect">
            <a:avLst/>
          </a:prstGeom>
          <a:noFill/>
          <a:ln/>
        </p:spPr>
        <p:txBody>
          <a:bodyPr wrap="square" lIns="0" tIns="0" rIns="0" bIns="0" rtlCol="0" anchor="t"/>
          <a:lstStyle/>
          <a:p>
            <a:pPr indent="0" marL="0">
              <a:buNone/>
            </a:pPr>
            <a:r>
              <a:rPr lang="en-US" sz="1300" b="1" dirty="0">
                <a:solidFill>
                  <a:srgbClr val="10B981"/>
                </a:solidFill>
                <a:latin typeface="Calibri" pitchFamily="34" charset="0"/>
                <a:ea typeface="Calibri" pitchFamily="34" charset="-122"/>
                <a:cs typeface="Calibri" pitchFamily="34" charset="-120"/>
              </a:rPr>
              <a:t>Fundamentals of Deep Learning</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NVIDIA DLI</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Generative AI with Diffusion Models</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NVIDIA DLI</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Evaluation and Light Customization of Large Language Models</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NVIDIA DLI</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Building AI Agents with Multimodal Models</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NVIDIA DLI</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Adding New Knowledge to LLMs</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NVIDIA DLI</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Building Transformer-Based Natural Language Processing</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NVIDIA DLI</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Claude 101 &amp; Claude Code 101 &amp; In Action &amp; AI Fluency</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Anthropic</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AI Agents in Practice &amp; Build Chat Applications</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365 Data Science</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AI Ethics &amp; AI Strategy</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365 Financial Analyst</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Introduction to Modern AI &amp; Data Science Essentials</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Cisco Networking Academy</a:t>
            </a:r>
            <a:endParaRPr lang="en-US" sz="1300" dirty="0"/>
          </a:p>
          <a:p>
            <a:pPr indent="0" marL="0">
              <a:spcBef>
                <a:spcPts val="600"/>
              </a:spcBef>
              <a:buNone/>
            </a:pPr>
            <a:r>
              <a:rPr lang="en-US" sz="1300" b="1" dirty="0">
                <a:solidFill>
                  <a:srgbClr val="10B981"/>
                </a:solidFill>
                <a:latin typeface="Calibri" pitchFamily="34" charset="0"/>
                <a:ea typeface="Calibri" pitchFamily="34" charset="-122"/>
                <a:cs typeface="Calibri" pitchFamily="34" charset="-120"/>
              </a:rPr>
              <a:t>AI Fundamentals</a:t>
            </a:r>
            <a:endParaRPr lang="en-US" sz="1300" dirty="0"/>
          </a:p>
          <a:p>
            <a:pPr indent="0" marL="0">
              <a:spcAft>
                <a:spcPts val="400"/>
              </a:spcAft>
              <a:buNone/>
            </a:pPr>
            <a:r>
              <a:rPr lang="en-US" sz="1100" i="1" dirty="0">
                <a:solidFill>
                  <a:srgbClr val="6B7280"/>
                </a:solidFill>
                <a:latin typeface="Calibri" pitchFamily="34" charset="0"/>
                <a:ea typeface="Calibri" pitchFamily="34" charset="-122"/>
                <a:cs typeface="Calibri" pitchFamily="34" charset="-120"/>
              </a:rPr>
              <a:t>IBM SkillsBuild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2937"/>
        </a:solidFill>
      </p:bgPr>
    </p:bg>
    <p:spTree>
      <p:nvGrpSpPr>
        <p:cNvPr id="1" name=""/>
        <p:cNvGrpSpPr/>
        <p:nvPr/>
      </p:nvGrpSpPr>
      <p:grpSpPr>
        <a:xfrm>
          <a:off x="0" y="0"/>
          <a:ext cx="0" cy="0"/>
          <a:chOff x="0" y="0"/>
          <a:chExt cx="0" cy="0"/>
        </a:xfrm>
      </p:grpSpPr>
      <p:sp>
        <p:nvSpPr>
          <p:cNvPr id="2" name="Shape 0"/>
          <p:cNvSpPr/>
          <p:nvPr/>
        </p:nvSpPr>
        <p:spPr>
          <a:xfrm>
            <a:off x="0" y="6693408"/>
            <a:ext cx="12188952" cy="164592"/>
          </a:xfrm>
          <a:prstGeom prst="rect">
            <a:avLst/>
          </a:prstGeom>
          <a:solidFill>
            <a:srgbClr val="10B981"/>
          </a:solidFill>
          <a:ln/>
        </p:spPr>
      </p:sp>
      <p:sp>
        <p:nvSpPr>
          <p:cNvPr id="3" name="Text 1"/>
          <p:cNvSpPr/>
          <p:nvPr/>
        </p:nvSpPr>
        <p:spPr>
          <a:xfrm>
            <a:off x="457200" y="2011680"/>
            <a:ext cx="11274552" cy="1463040"/>
          </a:xfrm>
          <a:prstGeom prst="rect">
            <a:avLst/>
          </a:prstGeom>
          <a:noFill/>
          <a:ln/>
        </p:spPr>
        <p:txBody>
          <a:bodyPr wrap="square" rtlCol="0" anchor="ctr"/>
          <a:lstStyle/>
          <a:p>
            <a:pPr algn="ctr" indent="0" marL="0">
              <a:buNone/>
            </a:pPr>
            <a:r>
              <a:rPr lang="en-US" sz="5400" b="1" dirty="0">
                <a:solidFill>
                  <a:srgbClr val="FFFFFF"/>
                </a:solidFill>
                <a:latin typeface="Calibri" pitchFamily="34" charset="0"/>
                <a:ea typeface="Calibri" pitchFamily="34" charset="-122"/>
                <a:cs typeface="Calibri" pitchFamily="34" charset="-120"/>
              </a:rPr>
              <a:t>Merci</a:t>
            </a:r>
            <a:endParaRPr lang="en-US" sz="5400" dirty="0"/>
          </a:p>
        </p:txBody>
      </p:sp>
      <p:sp>
        <p:nvSpPr>
          <p:cNvPr id="4" name="Text 2"/>
          <p:cNvSpPr/>
          <p:nvPr/>
        </p:nvSpPr>
        <p:spPr>
          <a:xfrm>
            <a:off x="457200" y="3520440"/>
            <a:ext cx="11274552" cy="548640"/>
          </a:xfrm>
          <a:prstGeom prst="rect">
            <a:avLst/>
          </a:prstGeom>
          <a:noFill/>
          <a:ln/>
        </p:spPr>
        <p:txBody>
          <a:bodyPr wrap="square" rtlCol="0" anchor="ctr"/>
          <a:lstStyle/>
          <a:p>
            <a:pPr algn="ctr" indent="0" marL="0">
              <a:buNone/>
            </a:pPr>
            <a:r>
              <a:rPr lang="en-US" sz="2200" i="1" dirty="0">
                <a:solidFill>
                  <a:srgbClr val="10B981"/>
                </a:solidFill>
                <a:latin typeface="Calibri" pitchFamily="34" charset="0"/>
                <a:ea typeface="Calibri" pitchFamily="34" charset="-122"/>
                <a:cs typeface="Calibri" pitchFamily="34" charset="-120"/>
              </a:rPr>
              <a:t>SFAXI Mohamed Amir</a:t>
            </a:r>
            <a:endParaRPr lang="en-US" sz="2200" dirty="0"/>
          </a:p>
        </p:txBody>
      </p:sp>
      <p:sp>
        <p:nvSpPr>
          <p:cNvPr id="5" name="Shape 3"/>
          <p:cNvSpPr/>
          <p:nvPr/>
        </p:nvSpPr>
        <p:spPr>
          <a:xfrm>
            <a:off x="3351276" y="5120640"/>
            <a:ext cx="5486400" cy="0"/>
          </a:xfrm>
          <a:prstGeom prst="line">
            <a:avLst/>
          </a:prstGeom>
          <a:noFill/>
          <a:ln w="12700">
            <a:solidFill>
              <a:srgbClr val="10B981"/>
            </a:solidFill>
            <a:prstDash val="solid"/>
          </a:ln>
        </p:spPr>
      </p:sp>
      <p:sp>
        <p:nvSpPr>
          <p:cNvPr id="6" name="Text 4"/>
          <p:cNvSpPr/>
          <p:nvPr/>
        </p:nvSpPr>
        <p:spPr>
          <a:xfrm>
            <a:off x="457200" y="5257800"/>
            <a:ext cx="11274552" cy="548640"/>
          </a:xfrm>
          <a:prstGeom prst="rect">
            <a:avLst/>
          </a:prstGeom>
          <a:noFill/>
          <a:ln/>
        </p:spPr>
        <p:txBody>
          <a:bodyPr wrap="square" rtlCol="0" anchor="ctr"/>
          <a:lstStyle/>
          <a:p>
            <a:pPr algn="ctr" indent="0" marL="0">
              <a:buNone/>
            </a:pPr>
            <a:r>
              <a:rPr lang="en-US" sz="1200" dirty="0">
                <a:solidFill>
                  <a:srgbClr val="CBD5E1"/>
                </a:solidFill>
                <a:latin typeface="Calibri" pitchFamily="34" charset="0"/>
                <a:ea typeface="Calibri" pitchFamily="34" charset="-122"/>
                <a:cs typeface="Calibri" pitchFamily="34" charset="-120"/>
              </a:rPr>
              <a:t>mohamedamir.sfaxi@esprit.tn  |  +216 55 416 184  |  Tunis, Tunisie  |  linkedin.com/in/amir-sfaxi-097bb335b</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CV Transformer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CV — SFAXI Mohamed Amir</dc:title>
  <dc:subject>CV généré automatiquement</dc:subject>
  <dc:creator>Agent de transformation de CV</dc:creator>
  <cp:lastModifiedBy>Agent de transformation de CV</cp:lastModifiedBy>
  <cp:revision>1</cp:revision>
  <dcterms:created xsi:type="dcterms:W3CDTF">2026-08-10T08:06:29Z</dcterms:created>
  <dcterms:modified xsi:type="dcterms:W3CDTF">2026-08-10T08:06:29Z</dcterms:modified>
</cp:coreProperties>
</file>