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F2937"/>
        </a:solidFill>
      </p:bgPr>
    </p:bg>
    <p:spTree>
      <p:nvGrpSpPr>
        <p:cNvPr id="1" name=""/>
        <p:cNvGrpSpPr/>
        <p:nvPr/>
      </p:nvGrpSpPr>
      <p:grpSpPr>
        <a:xfrm>
          <a:off x="0" y="0"/>
          <a:ext cx="0" cy="0"/>
          <a:chOff x="0" y="0"/>
          <a:chExt cx="0" cy="0"/>
        </a:xfrm>
      </p:grpSpPr>
      <p:sp>
        <p:nvSpPr>
          <p:cNvPr id="2" name="Shape 0"/>
          <p:cNvSpPr/>
          <p:nvPr/>
        </p:nvSpPr>
        <p:spPr>
          <a:xfrm>
            <a:off x="0" y="0"/>
            <a:ext cx="12188952" cy="164592"/>
          </a:xfrm>
          <a:prstGeom prst="rect">
            <a:avLst/>
          </a:prstGeom>
          <a:solidFill>
            <a:srgbClr val="10B981"/>
          </a:solidFill>
          <a:ln/>
        </p:spPr>
      </p:sp>
      <p:sp>
        <p:nvSpPr>
          <p:cNvPr id="3" name="Text 1"/>
          <p:cNvSpPr/>
          <p:nvPr/>
        </p:nvSpPr>
        <p:spPr>
          <a:xfrm>
            <a:off x="457200" y="2103120"/>
            <a:ext cx="11274552" cy="1280160"/>
          </a:xfrm>
          <a:prstGeom prst="rect">
            <a:avLst/>
          </a:prstGeom>
          <a:noFill/>
          <a:ln/>
        </p:spPr>
        <p:txBody>
          <a:bodyPr wrap="square" rtlCol="0" anchor="ctr"/>
          <a:lstStyle/>
          <a:p>
            <a:pPr algn="ctr" indent="0" marL="0">
              <a:buNone/>
            </a:pPr>
            <a:r>
              <a:rPr lang="en-US" sz="4400" b="1" dirty="0">
                <a:solidFill>
                  <a:srgbClr val="FFFFFF"/>
                </a:solidFill>
                <a:latin typeface="Calibri" pitchFamily="34" charset="0"/>
                <a:ea typeface="Calibri" pitchFamily="34" charset="-122"/>
                <a:cs typeface="Calibri" pitchFamily="34" charset="-120"/>
              </a:rPr>
              <a:t>Hafedh Amrouch</a:t>
            </a:r>
            <a:endParaRPr lang="en-US" sz="4400" dirty="0"/>
          </a:p>
        </p:txBody>
      </p:sp>
      <p:sp>
        <p:nvSpPr>
          <p:cNvPr id="4" name="Text 2"/>
          <p:cNvSpPr/>
          <p:nvPr/>
        </p:nvSpPr>
        <p:spPr>
          <a:xfrm>
            <a:off x="457200" y="3429000"/>
            <a:ext cx="11274552" cy="640080"/>
          </a:xfrm>
          <a:prstGeom prst="rect">
            <a:avLst/>
          </a:prstGeom>
          <a:noFill/>
          <a:ln/>
        </p:spPr>
        <p:txBody>
          <a:bodyPr wrap="square" rtlCol="0" anchor="ctr"/>
          <a:lstStyle/>
          <a:p>
            <a:pPr algn="ctr" indent="0" marL="0">
              <a:buNone/>
            </a:pPr>
            <a:r>
              <a:rPr lang="en-US" sz="2200" i="1" dirty="0">
                <a:solidFill>
                  <a:srgbClr val="10B981"/>
                </a:solidFill>
                <a:latin typeface="Calibri" pitchFamily="34" charset="0"/>
                <a:ea typeface="Calibri" pitchFamily="34" charset="-122"/>
                <a:cs typeface="Calibri" pitchFamily="34" charset="-120"/>
              </a:rPr>
              <a:t>Étudiant Ingénieur en Informatique - Spécialité Intelligence Artificielle</a:t>
            </a:r>
            <a:endParaRPr lang="en-US" sz="2200" dirty="0"/>
          </a:p>
        </p:txBody>
      </p:sp>
      <p:sp>
        <p:nvSpPr>
          <p:cNvPr id="5" name="Shape 3"/>
          <p:cNvSpPr/>
          <p:nvPr/>
        </p:nvSpPr>
        <p:spPr>
          <a:xfrm>
            <a:off x="3351276" y="5486400"/>
            <a:ext cx="5486400" cy="0"/>
          </a:xfrm>
          <a:prstGeom prst="line">
            <a:avLst/>
          </a:prstGeom>
          <a:noFill/>
          <a:ln w="12700">
            <a:solidFill>
              <a:srgbClr val="10B981"/>
            </a:solidFill>
            <a:prstDash val="solid"/>
          </a:ln>
        </p:spPr>
      </p:sp>
      <p:sp>
        <p:nvSpPr>
          <p:cNvPr id="6" name="Text 4"/>
          <p:cNvSpPr/>
          <p:nvPr/>
        </p:nvSpPr>
        <p:spPr>
          <a:xfrm>
            <a:off x="457200" y="5623560"/>
            <a:ext cx="11274552" cy="548640"/>
          </a:xfrm>
          <a:prstGeom prst="rect">
            <a:avLst/>
          </a:prstGeom>
          <a:noFill/>
          <a:ln/>
        </p:spPr>
        <p:txBody>
          <a:bodyPr wrap="square" rtlCol="0" anchor="ctr"/>
          <a:lstStyle/>
          <a:p>
            <a:pPr algn="ctr" indent="0" marL="0">
              <a:buNone/>
            </a:pPr>
            <a:r>
              <a:rPr lang="en-US" sz="1200" dirty="0">
                <a:solidFill>
                  <a:srgbClr val="CBD5E1"/>
                </a:solidFill>
                <a:latin typeface="Calibri" pitchFamily="34" charset="0"/>
                <a:ea typeface="Calibri" pitchFamily="34" charset="-122"/>
                <a:cs typeface="Calibri" pitchFamily="34" charset="-120"/>
              </a:rPr>
              <a:t>hafedh.amrouch@gmail.com  |  00216 50 250 212  |  Tunis, Tunisie  |  linkedin.com/in/amir-sfaxi-097bb335b</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9FAFB"/>
        </a:solidFill>
      </p:bgPr>
    </p:bg>
    <p:spTree>
      <p:nvGrpSpPr>
        <p:cNvPr id="1" name=""/>
        <p:cNvGrpSpPr/>
        <p:nvPr/>
      </p:nvGrpSpPr>
      <p:grpSpPr>
        <a:xfrm>
          <a:off x="0" y="0"/>
          <a:ext cx="0" cy="0"/>
          <a:chOff x="0" y="0"/>
          <a:chExt cx="0" cy="0"/>
        </a:xfrm>
      </p:grpSpPr>
      <p:sp>
        <p:nvSpPr>
          <p:cNvPr id="2" name="Shape 0"/>
          <p:cNvSpPr/>
          <p:nvPr/>
        </p:nvSpPr>
        <p:spPr>
          <a:xfrm>
            <a:off x="548640" y="530352"/>
            <a:ext cx="109728" cy="502920"/>
          </a:xfrm>
          <a:prstGeom prst="rect">
            <a:avLst/>
          </a:prstGeom>
          <a:solidFill>
            <a:srgbClr val="10B981"/>
          </a:solidFill>
          <a:ln/>
        </p:spPr>
      </p:sp>
      <p:sp>
        <p:nvSpPr>
          <p:cNvPr id="3" name="Text 1"/>
          <p:cNvSpPr/>
          <p:nvPr/>
        </p:nvSpPr>
        <p:spPr>
          <a:xfrm>
            <a:off x="777240" y="457200"/>
            <a:ext cx="10863072" cy="640080"/>
          </a:xfrm>
          <a:prstGeom prst="rect">
            <a:avLst/>
          </a:prstGeom>
          <a:noFill/>
          <a:ln/>
        </p:spPr>
        <p:txBody>
          <a:bodyPr wrap="square" rtlCol="0" anchor="ctr"/>
          <a:lstStyle/>
          <a:p>
            <a:pPr indent="0" marL="0">
              <a:buNone/>
            </a:pPr>
            <a:r>
              <a:rPr lang="en-US" sz="2800" b="1" dirty="0">
                <a:solidFill>
                  <a:srgbClr val="1F2937"/>
                </a:solidFill>
                <a:latin typeface="Calibri" pitchFamily="34" charset="0"/>
                <a:ea typeface="Calibri" pitchFamily="34" charset="-122"/>
                <a:cs typeface="Calibri" pitchFamily="34" charset="-120"/>
              </a:rPr>
              <a:t>Profil</a:t>
            </a:r>
            <a:endParaRPr lang="en-US" sz="2800" dirty="0"/>
          </a:p>
        </p:txBody>
      </p:sp>
      <p:sp>
        <p:nvSpPr>
          <p:cNvPr id="4" name="Shape 2"/>
          <p:cNvSpPr/>
          <p:nvPr/>
        </p:nvSpPr>
        <p:spPr>
          <a:xfrm>
            <a:off x="548640" y="1234440"/>
            <a:ext cx="11091672" cy="0"/>
          </a:xfrm>
          <a:prstGeom prst="line">
            <a:avLst/>
          </a:prstGeom>
          <a:noFill/>
          <a:ln w="19050">
            <a:solidFill>
              <a:srgbClr val="10B981"/>
            </a:solidFill>
            <a:prstDash val="solid"/>
          </a:ln>
        </p:spPr>
      </p:sp>
      <p:sp>
        <p:nvSpPr>
          <p:cNvPr id="5" name="Text 3"/>
          <p:cNvSpPr/>
          <p:nvPr/>
        </p:nvSpPr>
        <p:spPr>
          <a:xfrm>
            <a:off x="548640" y="1463040"/>
            <a:ext cx="11091672" cy="3017520"/>
          </a:xfrm>
          <a:prstGeom prst="rect">
            <a:avLst/>
          </a:prstGeom>
          <a:noFill/>
          <a:ln/>
        </p:spPr>
        <p:txBody>
          <a:bodyPr wrap="square" rtlCol="0" anchor="t"/>
          <a:lstStyle/>
          <a:p>
            <a:pPr algn="l" indent="0" marL="0">
              <a:lnSpc>
                <a:spcPct val="125000"/>
              </a:lnSpc>
              <a:buNone/>
            </a:pPr>
            <a:r>
              <a:rPr lang="en-US" sz="1300" dirty="0">
                <a:solidFill>
                  <a:srgbClr val="1F2937"/>
                </a:solidFill>
                <a:latin typeface="Calibri" pitchFamily="34" charset="0"/>
                <a:ea typeface="Calibri" pitchFamily="34" charset="-122"/>
                <a:cs typeface="Calibri" pitchFamily="34" charset="-120"/>
              </a:rPr>
              <a:t>Étudiant ingénieur en informatique spécialisé en Intelligence Artificielle à ESPRIT School of Engineering. Passionné par les LLMs, les systèmes multi-agents et le NLP, avec trois stages en entreprise (ODDO BHF, WEELEARN et WeEbuild) et plusieurs projets IA end-to-end. Certifié NVIDIA DLI, Anthropic, Cisco et IBM. À la recherche d’opportunités en IA appliquée.</a:t>
            </a:r>
            <a:endParaRPr lang="en-US" sz="1300" dirty="0"/>
          </a:p>
        </p:txBody>
      </p:sp>
      <p:sp>
        <p:nvSpPr>
          <p:cNvPr id="6" name="Shape 4"/>
          <p:cNvSpPr/>
          <p:nvPr/>
        </p:nvSpPr>
        <p:spPr>
          <a:xfrm>
            <a:off x="685800" y="4754880"/>
            <a:ext cx="3422904" cy="1280160"/>
          </a:xfrm>
          <a:prstGeom prst="roundRect">
            <a:avLst>
              <a:gd name="adj" fmla="val 5714"/>
            </a:avLst>
          </a:prstGeom>
          <a:solidFill>
            <a:srgbClr val="FFFFFF"/>
          </a:solidFill>
          <a:ln w="12700">
            <a:solidFill>
              <a:srgbClr val="10B981"/>
            </a:solidFill>
            <a:prstDash val="solid"/>
          </a:ln>
        </p:spPr>
      </p:sp>
      <p:sp>
        <p:nvSpPr>
          <p:cNvPr id="7" name="Text 5"/>
          <p:cNvSpPr/>
          <p:nvPr/>
        </p:nvSpPr>
        <p:spPr>
          <a:xfrm>
            <a:off x="685800" y="4892040"/>
            <a:ext cx="3422904" cy="640080"/>
          </a:xfrm>
          <a:prstGeom prst="rect">
            <a:avLst/>
          </a:prstGeom>
          <a:noFill/>
          <a:ln/>
        </p:spPr>
        <p:txBody>
          <a:bodyPr wrap="square" rtlCol="0" anchor="ctr"/>
          <a:lstStyle/>
          <a:p>
            <a:pPr algn="ctr" indent="0" marL="0">
              <a:buNone/>
            </a:pPr>
            <a:r>
              <a:rPr lang="en-US" sz="3000" b="1" dirty="0">
                <a:solidFill>
                  <a:srgbClr val="10B981"/>
                </a:solidFill>
                <a:latin typeface="Calibri" pitchFamily="34" charset="0"/>
                <a:ea typeface="Calibri" pitchFamily="34" charset="-122"/>
                <a:cs typeface="Calibri" pitchFamily="34" charset="-120"/>
              </a:rPr>
              <a:t>5</a:t>
            </a:r>
            <a:endParaRPr lang="en-US" sz="3000" dirty="0"/>
          </a:p>
        </p:txBody>
      </p:sp>
      <p:sp>
        <p:nvSpPr>
          <p:cNvPr id="8" name="Text 6"/>
          <p:cNvSpPr/>
          <p:nvPr/>
        </p:nvSpPr>
        <p:spPr>
          <a:xfrm>
            <a:off x="685800" y="5532120"/>
            <a:ext cx="3422904" cy="411480"/>
          </a:xfrm>
          <a:prstGeom prst="rect">
            <a:avLst/>
          </a:prstGeom>
          <a:noFill/>
          <a:ln/>
        </p:spPr>
        <p:txBody>
          <a:bodyPr wrap="square" rtlCol="0" anchor="ctr"/>
          <a:lstStyle/>
          <a:p>
            <a:pPr algn="ctr" indent="0" marL="0">
              <a:buNone/>
            </a:pPr>
            <a:r>
              <a:rPr lang="en-US" sz="1100" dirty="0">
                <a:solidFill>
                  <a:srgbClr val="6B7280"/>
                </a:solidFill>
                <a:latin typeface="Calibri" pitchFamily="34" charset="0"/>
                <a:ea typeface="Calibri" pitchFamily="34" charset="-122"/>
                <a:cs typeface="Calibri" pitchFamily="34" charset="-120"/>
              </a:rPr>
              <a:t>années d'expérience</a:t>
            </a:r>
            <a:endParaRPr lang="en-US" sz="1100" dirty="0"/>
          </a:p>
        </p:txBody>
      </p:sp>
      <p:sp>
        <p:nvSpPr>
          <p:cNvPr id="9" name="Shape 7"/>
          <p:cNvSpPr/>
          <p:nvPr/>
        </p:nvSpPr>
        <p:spPr>
          <a:xfrm>
            <a:off x="4383024" y="4754880"/>
            <a:ext cx="3422904" cy="1280160"/>
          </a:xfrm>
          <a:prstGeom prst="roundRect">
            <a:avLst>
              <a:gd name="adj" fmla="val 5714"/>
            </a:avLst>
          </a:prstGeom>
          <a:solidFill>
            <a:srgbClr val="FFFFFF"/>
          </a:solidFill>
          <a:ln w="12700">
            <a:solidFill>
              <a:srgbClr val="10B981"/>
            </a:solidFill>
            <a:prstDash val="solid"/>
          </a:ln>
        </p:spPr>
      </p:sp>
      <p:sp>
        <p:nvSpPr>
          <p:cNvPr id="10" name="Text 8"/>
          <p:cNvSpPr/>
          <p:nvPr/>
        </p:nvSpPr>
        <p:spPr>
          <a:xfrm>
            <a:off x="4383024" y="4892040"/>
            <a:ext cx="3422904" cy="640080"/>
          </a:xfrm>
          <a:prstGeom prst="rect">
            <a:avLst/>
          </a:prstGeom>
          <a:noFill/>
          <a:ln/>
        </p:spPr>
        <p:txBody>
          <a:bodyPr wrap="square" rtlCol="0" anchor="ctr"/>
          <a:lstStyle/>
          <a:p>
            <a:pPr algn="ctr" indent="0" marL="0">
              <a:buNone/>
            </a:pPr>
            <a:r>
              <a:rPr lang="en-US" sz="3000" b="1" dirty="0">
                <a:solidFill>
                  <a:srgbClr val="10B981"/>
                </a:solidFill>
                <a:latin typeface="Calibri" pitchFamily="34" charset="0"/>
                <a:ea typeface="Calibri" pitchFamily="34" charset="-122"/>
                <a:cs typeface="Calibri" pitchFamily="34" charset="-120"/>
              </a:rPr>
              <a:t>47</a:t>
            </a:r>
            <a:endParaRPr lang="en-US" sz="3000" dirty="0"/>
          </a:p>
        </p:txBody>
      </p:sp>
      <p:sp>
        <p:nvSpPr>
          <p:cNvPr id="11" name="Text 9"/>
          <p:cNvSpPr/>
          <p:nvPr/>
        </p:nvSpPr>
        <p:spPr>
          <a:xfrm>
            <a:off x="4383024" y="5532120"/>
            <a:ext cx="3422904" cy="411480"/>
          </a:xfrm>
          <a:prstGeom prst="rect">
            <a:avLst/>
          </a:prstGeom>
          <a:noFill/>
          <a:ln/>
        </p:spPr>
        <p:txBody>
          <a:bodyPr wrap="square" rtlCol="0" anchor="ctr"/>
          <a:lstStyle/>
          <a:p>
            <a:pPr algn="ctr" indent="0" marL="0">
              <a:buNone/>
            </a:pPr>
            <a:r>
              <a:rPr lang="en-US" sz="1100" dirty="0">
                <a:solidFill>
                  <a:srgbClr val="6B7280"/>
                </a:solidFill>
                <a:latin typeface="Calibri" pitchFamily="34" charset="0"/>
                <a:ea typeface="Calibri" pitchFamily="34" charset="-122"/>
                <a:cs typeface="Calibri" pitchFamily="34" charset="-120"/>
              </a:rPr>
              <a:t>compétences</a:t>
            </a:r>
            <a:endParaRPr lang="en-US" sz="1100" dirty="0"/>
          </a:p>
        </p:txBody>
      </p:sp>
      <p:sp>
        <p:nvSpPr>
          <p:cNvPr id="12" name="Shape 10"/>
          <p:cNvSpPr/>
          <p:nvPr/>
        </p:nvSpPr>
        <p:spPr>
          <a:xfrm>
            <a:off x="8080248" y="4754880"/>
            <a:ext cx="3422904" cy="1280160"/>
          </a:xfrm>
          <a:prstGeom prst="roundRect">
            <a:avLst>
              <a:gd name="adj" fmla="val 5714"/>
            </a:avLst>
          </a:prstGeom>
          <a:solidFill>
            <a:srgbClr val="FFFFFF"/>
          </a:solidFill>
          <a:ln w="12700">
            <a:solidFill>
              <a:srgbClr val="10B981"/>
            </a:solidFill>
            <a:prstDash val="solid"/>
          </a:ln>
        </p:spPr>
      </p:sp>
      <p:sp>
        <p:nvSpPr>
          <p:cNvPr id="13" name="Text 11"/>
          <p:cNvSpPr/>
          <p:nvPr/>
        </p:nvSpPr>
        <p:spPr>
          <a:xfrm>
            <a:off x="8080248" y="4892040"/>
            <a:ext cx="3422904" cy="640080"/>
          </a:xfrm>
          <a:prstGeom prst="rect">
            <a:avLst/>
          </a:prstGeom>
          <a:noFill/>
          <a:ln/>
        </p:spPr>
        <p:txBody>
          <a:bodyPr wrap="square" rtlCol="0" anchor="ctr"/>
          <a:lstStyle/>
          <a:p>
            <a:pPr algn="ctr" indent="0" marL="0">
              <a:buNone/>
            </a:pPr>
            <a:r>
              <a:rPr lang="en-US" sz="3000" b="1" dirty="0">
                <a:solidFill>
                  <a:srgbClr val="10B981"/>
                </a:solidFill>
                <a:latin typeface="Calibri" pitchFamily="34" charset="0"/>
                <a:ea typeface="Calibri" pitchFamily="34" charset="-122"/>
                <a:cs typeface="Calibri" pitchFamily="34" charset="-120"/>
              </a:rPr>
              <a:t>4</a:t>
            </a:r>
            <a:endParaRPr lang="en-US" sz="3000" dirty="0"/>
          </a:p>
        </p:txBody>
      </p:sp>
      <p:sp>
        <p:nvSpPr>
          <p:cNvPr id="14" name="Text 12"/>
          <p:cNvSpPr/>
          <p:nvPr/>
        </p:nvSpPr>
        <p:spPr>
          <a:xfrm>
            <a:off x="8080248" y="5532120"/>
            <a:ext cx="3422904" cy="411480"/>
          </a:xfrm>
          <a:prstGeom prst="rect">
            <a:avLst/>
          </a:prstGeom>
          <a:noFill/>
          <a:ln/>
        </p:spPr>
        <p:txBody>
          <a:bodyPr wrap="square" rtlCol="0" anchor="ctr"/>
          <a:lstStyle/>
          <a:p>
            <a:pPr algn="ctr" indent="0" marL="0">
              <a:buNone/>
            </a:pPr>
            <a:r>
              <a:rPr lang="en-US" sz="1100" dirty="0">
                <a:solidFill>
                  <a:srgbClr val="6B7280"/>
                </a:solidFill>
                <a:latin typeface="Calibri" pitchFamily="34" charset="0"/>
                <a:ea typeface="Calibri" pitchFamily="34" charset="-122"/>
                <a:cs typeface="Calibri" pitchFamily="34" charset="-120"/>
              </a:rPr>
              <a:t>langues</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9FAFB"/>
        </a:solidFill>
      </p:bgPr>
    </p:bg>
    <p:spTree>
      <p:nvGrpSpPr>
        <p:cNvPr id="1" name=""/>
        <p:cNvGrpSpPr/>
        <p:nvPr/>
      </p:nvGrpSpPr>
      <p:grpSpPr>
        <a:xfrm>
          <a:off x="0" y="0"/>
          <a:ext cx="0" cy="0"/>
          <a:chOff x="0" y="0"/>
          <a:chExt cx="0" cy="0"/>
        </a:xfrm>
      </p:grpSpPr>
      <p:sp>
        <p:nvSpPr>
          <p:cNvPr id="2" name="Shape 0"/>
          <p:cNvSpPr/>
          <p:nvPr/>
        </p:nvSpPr>
        <p:spPr>
          <a:xfrm>
            <a:off x="548640" y="530352"/>
            <a:ext cx="109728" cy="502920"/>
          </a:xfrm>
          <a:prstGeom prst="rect">
            <a:avLst/>
          </a:prstGeom>
          <a:solidFill>
            <a:srgbClr val="10B981"/>
          </a:solidFill>
          <a:ln/>
        </p:spPr>
      </p:sp>
      <p:sp>
        <p:nvSpPr>
          <p:cNvPr id="3" name="Text 1"/>
          <p:cNvSpPr/>
          <p:nvPr/>
        </p:nvSpPr>
        <p:spPr>
          <a:xfrm>
            <a:off x="777240" y="457200"/>
            <a:ext cx="10863072" cy="640080"/>
          </a:xfrm>
          <a:prstGeom prst="rect">
            <a:avLst/>
          </a:prstGeom>
          <a:noFill/>
          <a:ln/>
        </p:spPr>
        <p:txBody>
          <a:bodyPr wrap="square" rtlCol="0" anchor="ctr"/>
          <a:lstStyle/>
          <a:p>
            <a:pPr indent="0" marL="0">
              <a:buNone/>
            </a:pPr>
            <a:r>
              <a:rPr lang="en-US" sz="2800" b="1" dirty="0">
                <a:solidFill>
                  <a:srgbClr val="1F2937"/>
                </a:solidFill>
                <a:latin typeface="Calibri" pitchFamily="34" charset="0"/>
                <a:ea typeface="Calibri" pitchFamily="34" charset="-122"/>
                <a:cs typeface="Calibri" pitchFamily="34" charset="-120"/>
              </a:rPr>
              <a:t>Expérience professionnelle</a:t>
            </a:r>
            <a:endParaRPr lang="en-US" sz="2800" dirty="0"/>
          </a:p>
        </p:txBody>
      </p:sp>
      <p:sp>
        <p:nvSpPr>
          <p:cNvPr id="4" name="Text 2"/>
          <p:cNvSpPr/>
          <p:nvPr/>
        </p:nvSpPr>
        <p:spPr>
          <a:xfrm>
            <a:off x="777240" y="457200"/>
            <a:ext cx="10863072" cy="640080"/>
          </a:xfrm>
          <a:prstGeom prst="rect">
            <a:avLst/>
          </a:prstGeom>
          <a:noFill/>
          <a:ln/>
        </p:spPr>
        <p:txBody>
          <a:bodyPr wrap="square" rtlCol="0" anchor="ctr"/>
          <a:lstStyle/>
          <a:p>
            <a:pPr algn="r" indent="0" marL="0">
              <a:buNone/>
            </a:pPr>
            <a:r>
              <a:rPr lang="en-US" sz="1300" i="1" dirty="0">
                <a:solidFill>
                  <a:srgbClr val="6B7280"/>
                </a:solidFill>
              </a:rPr>
              <a:t>1 / 2</a:t>
            </a:r>
            <a:endParaRPr lang="en-US" sz="1300" dirty="0"/>
          </a:p>
        </p:txBody>
      </p:sp>
      <p:sp>
        <p:nvSpPr>
          <p:cNvPr id="5" name="Shape 3"/>
          <p:cNvSpPr/>
          <p:nvPr/>
        </p:nvSpPr>
        <p:spPr>
          <a:xfrm>
            <a:off x="548640" y="1234440"/>
            <a:ext cx="11091672" cy="0"/>
          </a:xfrm>
          <a:prstGeom prst="line">
            <a:avLst/>
          </a:prstGeom>
          <a:noFill/>
          <a:ln w="19050">
            <a:solidFill>
              <a:srgbClr val="10B981"/>
            </a:solidFill>
            <a:prstDash val="solid"/>
          </a:ln>
        </p:spPr>
      </p:sp>
      <p:sp>
        <p:nvSpPr>
          <p:cNvPr id="6" name="Text 4"/>
          <p:cNvSpPr/>
          <p:nvPr/>
        </p:nvSpPr>
        <p:spPr>
          <a:xfrm>
            <a:off x="548640" y="1508760"/>
            <a:ext cx="11091672" cy="1493520"/>
          </a:xfrm>
          <a:prstGeom prst="rect">
            <a:avLst/>
          </a:prstGeom>
          <a:noFill/>
          <a:ln/>
        </p:spPr>
        <p:txBody>
          <a:bodyPr wrap="square" lIns="0" tIns="0" rIns="0" bIns="0" rtlCol="0" anchor="t"/>
          <a:lstStyle/>
          <a:p>
            <a:pPr indent="0" marL="0">
              <a:buNone/>
            </a:pPr>
            <a:r>
              <a:rPr lang="en-US" sz="1700" b="1" dirty="0">
                <a:solidFill>
                  <a:srgbClr val="10B981"/>
                </a:solidFill>
                <a:latin typeface="Calibri" pitchFamily="34" charset="0"/>
                <a:ea typeface="Calibri" pitchFamily="34" charset="-122"/>
                <a:cs typeface="Calibri" pitchFamily="34" charset="-120"/>
              </a:rPr>
              <a:t>DATA ANALYST</a:t>
            </a:r>
            <a:endParaRPr lang="en-US" sz="1700" dirty="0"/>
          </a:p>
          <a:p>
            <a:pPr indent="0" marL="0">
              <a:buNone/>
            </a:pPr>
            <a:r>
              <a:rPr lang="en-US" sz="1200" i="1" dirty="0">
                <a:solidFill>
                  <a:srgbClr val="6B7280"/>
                </a:solidFill>
                <a:latin typeface="Calibri" pitchFamily="34" charset="0"/>
                <a:ea typeface="Calibri" pitchFamily="34" charset="-122"/>
                <a:cs typeface="Calibri" pitchFamily="34" charset="-120"/>
              </a:rPr>
              <a:t>Infopro Digital  —  Novembre 2023– Présent – présent  —  Tunis, Tunisie</a:t>
            </a:r>
            <a:endParaRPr lang="en-US" sz="1700" dirty="0"/>
          </a:p>
          <a:p>
            <a:pPr marL="342900" indent="-342900">
              <a:spcAft>
                <a:spcPts val="200"/>
              </a:spcAft>
              <a:buSzPct val="100000"/>
              <a:buChar char="•"/>
            </a:pPr>
            <a:r>
              <a:rPr lang="en-US" sz="1200" dirty="0">
                <a:solidFill>
                  <a:srgbClr val="1F2937"/>
                </a:solidFill>
                <a:latin typeface="Calibri" pitchFamily="34" charset="0"/>
                <a:ea typeface="Calibri" pitchFamily="34" charset="-122"/>
                <a:cs typeface="Calibri" pitchFamily="34" charset="-120"/>
              </a:rPr>
              <a:t>Superviser le développement des tableaux de bord Power BI en garantissant la qualité et la sécurité des données (RLS) et planifier les mises à jour des données des tableaux de bord à travers les Getway connection de power Bi service; Collaborer avec les différents managers pour identifier les besoins métier et les traduire en outils d’aide à la décision; Concevoir, créer et administrer les Base de données et Optimiser les requêtes SQL et améliorer les performances des dashboards; Gérer l’escalade des bugs (CRM, tableaux de bord, ETL pipeline); Travailler en coordination avec l’équipe INFRA et l’éditeur du CRM pour déployer les correctifs et mises à jour; L’élaboration et l’automatisation des processus d’intégration des données dans le CRM à l’aide de Sql Server intégration services; Collecter et extraire les données pertinentes de la base CRM via des requêtes Sql pour les charger dans des vues SQL Server; La création des tableaux de bord et des menus interactifs via Power BI desktop et SSRS; L’administration du CRM : Création de comptes, Création des campagnes Marketing ainsi que leurs interfaces agents.</a:t>
            </a:r>
            <a:endParaRPr lang="en-US" sz="1700" dirty="0"/>
          </a:p>
        </p:txBody>
      </p:sp>
      <p:sp>
        <p:nvSpPr>
          <p:cNvPr id="7" name="Text 5"/>
          <p:cNvSpPr/>
          <p:nvPr/>
        </p:nvSpPr>
        <p:spPr>
          <a:xfrm>
            <a:off x="548640" y="3139440"/>
            <a:ext cx="11091672" cy="1493520"/>
          </a:xfrm>
          <a:prstGeom prst="rect">
            <a:avLst/>
          </a:prstGeom>
          <a:noFill/>
          <a:ln/>
        </p:spPr>
        <p:txBody>
          <a:bodyPr wrap="square" lIns="0" tIns="0" rIns="0" bIns="0" rtlCol="0" anchor="t"/>
          <a:lstStyle/>
          <a:p>
            <a:pPr indent="0" marL="0">
              <a:buNone/>
            </a:pPr>
            <a:r>
              <a:rPr lang="en-US" sz="1700" b="1" dirty="0">
                <a:solidFill>
                  <a:srgbClr val="10B981"/>
                </a:solidFill>
                <a:latin typeface="Calibri" pitchFamily="34" charset="0"/>
                <a:ea typeface="Calibri" pitchFamily="34" charset="-122"/>
                <a:cs typeface="Calibri" pitchFamily="34" charset="-120"/>
              </a:rPr>
              <a:t>DATA ANALYST</a:t>
            </a:r>
            <a:endParaRPr lang="en-US" sz="1700" dirty="0"/>
          </a:p>
          <a:p>
            <a:pPr indent="0" marL="0">
              <a:buNone/>
            </a:pPr>
            <a:r>
              <a:rPr lang="en-US" sz="1200" i="1" dirty="0">
                <a:solidFill>
                  <a:srgbClr val="6B7280"/>
                </a:solidFill>
                <a:latin typeface="Calibri" pitchFamily="34" charset="0"/>
                <a:ea typeface="Calibri" pitchFamily="34" charset="-122"/>
                <a:cs typeface="Calibri" pitchFamily="34" charset="-120"/>
              </a:rPr>
              <a:t>Digital4business  —  Juillet 2023– Novembre 2023 – Novembre 2023  —  Tunis, Tunisie</a:t>
            </a:r>
            <a:endParaRPr lang="en-US" sz="1700" dirty="0"/>
          </a:p>
          <a:p>
            <a:pPr marL="342900" indent="-342900">
              <a:spcAft>
                <a:spcPts val="200"/>
              </a:spcAft>
              <a:buSzPct val="100000"/>
              <a:buChar char="•"/>
            </a:pPr>
            <a:r>
              <a:rPr lang="en-US" sz="1200" dirty="0">
                <a:solidFill>
                  <a:srgbClr val="1F2937"/>
                </a:solidFill>
                <a:latin typeface="Calibri" pitchFamily="34" charset="0"/>
                <a:ea typeface="Calibri" pitchFamily="34" charset="-122"/>
                <a:cs typeface="Calibri" pitchFamily="34" charset="-120"/>
              </a:rPr>
              <a:t>Concevoir, construire, modifier, intégrer, tester et mettre en œuvre des modèles de données; La synthétisation des données de gestion de stock et ticket support via Power BI.</a:t>
            </a:r>
            <a:endParaRPr lang="en-US" sz="1700" dirty="0"/>
          </a:p>
        </p:txBody>
      </p:sp>
      <p:sp>
        <p:nvSpPr>
          <p:cNvPr id="8" name="Text 6"/>
          <p:cNvSpPr/>
          <p:nvPr/>
        </p:nvSpPr>
        <p:spPr>
          <a:xfrm>
            <a:off x="548640" y="4770120"/>
            <a:ext cx="11091672" cy="1493520"/>
          </a:xfrm>
          <a:prstGeom prst="rect">
            <a:avLst/>
          </a:prstGeom>
          <a:noFill/>
          <a:ln/>
        </p:spPr>
        <p:txBody>
          <a:bodyPr wrap="square" lIns="0" tIns="0" rIns="0" bIns="0" rtlCol="0" anchor="t"/>
          <a:lstStyle/>
          <a:p>
            <a:pPr indent="0" marL="0">
              <a:buNone/>
            </a:pPr>
            <a:r>
              <a:rPr lang="en-US" sz="1700" b="1" dirty="0">
                <a:solidFill>
                  <a:srgbClr val="10B981"/>
                </a:solidFill>
                <a:latin typeface="Calibri" pitchFamily="34" charset="0"/>
                <a:ea typeface="Calibri" pitchFamily="34" charset="-122"/>
                <a:cs typeface="Calibri" pitchFamily="34" charset="-120"/>
              </a:rPr>
              <a:t>BI Analyst Junior</a:t>
            </a:r>
            <a:endParaRPr lang="en-US" sz="1700" dirty="0"/>
          </a:p>
          <a:p>
            <a:pPr indent="0" marL="0">
              <a:buNone/>
            </a:pPr>
            <a:r>
              <a:rPr lang="en-US" sz="1200" i="1" dirty="0">
                <a:solidFill>
                  <a:srgbClr val="6B7280"/>
                </a:solidFill>
                <a:latin typeface="Calibri" pitchFamily="34" charset="0"/>
                <a:ea typeface="Calibri" pitchFamily="34" charset="-122"/>
                <a:cs typeface="Calibri" pitchFamily="34" charset="-120"/>
              </a:rPr>
              <a:t>Umanlink Group  —  Mai 2022– juillet 2023 – juillet 2023  —  Tunis, Tunisie</a:t>
            </a:r>
            <a:endParaRPr lang="en-US" sz="1700" dirty="0"/>
          </a:p>
          <a:p>
            <a:pPr marL="342900" indent="-342900">
              <a:spcAft>
                <a:spcPts val="200"/>
              </a:spcAft>
              <a:buSzPct val="100000"/>
              <a:buChar char="•"/>
            </a:pPr>
            <a:r>
              <a:rPr lang="en-US" sz="1200" dirty="0">
                <a:solidFill>
                  <a:srgbClr val="1F2937"/>
                </a:solidFill>
                <a:latin typeface="Calibri" pitchFamily="34" charset="0"/>
                <a:ea typeface="Calibri" pitchFamily="34" charset="-122"/>
                <a:cs typeface="Calibri" pitchFamily="34" charset="-120"/>
              </a:rPr>
              <a:t>Déploiement d’un module ETL avec SQL Server Integration Services (SSIS): - Collecte et extraction des données pertinentes depuis le CRM. - Transformation et nettoyage des données (suppression des champs vides, élimination des doublons, création de champs calculés); La synthétisation des données via SSRS et Power BI.</a:t>
            </a:r>
            <a:endParaRPr lang="en-US" sz="17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9FAFB"/>
        </a:solidFill>
      </p:bgPr>
    </p:bg>
    <p:spTree>
      <p:nvGrpSpPr>
        <p:cNvPr id="1" name=""/>
        <p:cNvGrpSpPr/>
        <p:nvPr/>
      </p:nvGrpSpPr>
      <p:grpSpPr>
        <a:xfrm>
          <a:off x="0" y="0"/>
          <a:ext cx="0" cy="0"/>
          <a:chOff x="0" y="0"/>
          <a:chExt cx="0" cy="0"/>
        </a:xfrm>
      </p:grpSpPr>
      <p:sp>
        <p:nvSpPr>
          <p:cNvPr id="2" name="Shape 0"/>
          <p:cNvSpPr/>
          <p:nvPr/>
        </p:nvSpPr>
        <p:spPr>
          <a:xfrm>
            <a:off x="548640" y="530352"/>
            <a:ext cx="109728" cy="502920"/>
          </a:xfrm>
          <a:prstGeom prst="rect">
            <a:avLst/>
          </a:prstGeom>
          <a:solidFill>
            <a:srgbClr val="10B981"/>
          </a:solidFill>
          <a:ln/>
        </p:spPr>
      </p:sp>
      <p:sp>
        <p:nvSpPr>
          <p:cNvPr id="3" name="Text 1"/>
          <p:cNvSpPr/>
          <p:nvPr/>
        </p:nvSpPr>
        <p:spPr>
          <a:xfrm>
            <a:off x="777240" y="457200"/>
            <a:ext cx="10863072" cy="640080"/>
          </a:xfrm>
          <a:prstGeom prst="rect">
            <a:avLst/>
          </a:prstGeom>
          <a:noFill/>
          <a:ln/>
        </p:spPr>
        <p:txBody>
          <a:bodyPr wrap="square" rtlCol="0" anchor="ctr"/>
          <a:lstStyle/>
          <a:p>
            <a:pPr indent="0" marL="0">
              <a:buNone/>
            </a:pPr>
            <a:r>
              <a:rPr lang="en-US" sz="2800" b="1" dirty="0">
                <a:solidFill>
                  <a:srgbClr val="1F2937"/>
                </a:solidFill>
                <a:latin typeface="Calibri" pitchFamily="34" charset="0"/>
                <a:ea typeface="Calibri" pitchFamily="34" charset="-122"/>
                <a:cs typeface="Calibri" pitchFamily="34" charset="-120"/>
              </a:rPr>
              <a:t>Expérience professionnelle</a:t>
            </a:r>
            <a:endParaRPr lang="en-US" sz="2800" dirty="0"/>
          </a:p>
        </p:txBody>
      </p:sp>
      <p:sp>
        <p:nvSpPr>
          <p:cNvPr id="4" name="Text 2"/>
          <p:cNvSpPr/>
          <p:nvPr/>
        </p:nvSpPr>
        <p:spPr>
          <a:xfrm>
            <a:off x="777240" y="457200"/>
            <a:ext cx="10863072" cy="640080"/>
          </a:xfrm>
          <a:prstGeom prst="rect">
            <a:avLst/>
          </a:prstGeom>
          <a:noFill/>
          <a:ln/>
        </p:spPr>
        <p:txBody>
          <a:bodyPr wrap="square" rtlCol="0" anchor="ctr"/>
          <a:lstStyle/>
          <a:p>
            <a:pPr algn="r" indent="0" marL="0">
              <a:buNone/>
            </a:pPr>
            <a:r>
              <a:rPr lang="en-US" sz="1300" i="1" dirty="0">
                <a:solidFill>
                  <a:srgbClr val="6B7280"/>
                </a:solidFill>
              </a:rPr>
              <a:t>2 / 2</a:t>
            </a:r>
            <a:endParaRPr lang="en-US" sz="1300" dirty="0"/>
          </a:p>
        </p:txBody>
      </p:sp>
      <p:sp>
        <p:nvSpPr>
          <p:cNvPr id="5" name="Shape 3"/>
          <p:cNvSpPr/>
          <p:nvPr/>
        </p:nvSpPr>
        <p:spPr>
          <a:xfrm>
            <a:off x="548640" y="1234440"/>
            <a:ext cx="11091672" cy="0"/>
          </a:xfrm>
          <a:prstGeom prst="line">
            <a:avLst/>
          </a:prstGeom>
          <a:noFill/>
          <a:ln w="19050">
            <a:solidFill>
              <a:srgbClr val="10B981"/>
            </a:solidFill>
            <a:prstDash val="solid"/>
          </a:ln>
        </p:spPr>
      </p:sp>
      <p:sp>
        <p:nvSpPr>
          <p:cNvPr id="6" name="Text 4"/>
          <p:cNvSpPr/>
          <p:nvPr/>
        </p:nvSpPr>
        <p:spPr>
          <a:xfrm>
            <a:off x="548640" y="1508760"/>
            <a:ext cx="11091672" cy="1493520"/>
          </a:xfrm>
          <a:prstGeom prst="rect">
            <a:avLst/>
          </a:prstGeom>
          <a:noFill/>
          <a:ln/>
        </p:spPr>
        <p:txBody>
          <a:bodyPr wrap="square" lIns="0" tIns="0" rIns="0" bIns="0" rtlCol="0" anchor="t"/>
          <a:lstStyle/>
          <a:p>
            <a:pPr indent="0" marL="0">
              <a:buNone/>
            </a:pPr>
            <a:r>
              <a:rPr lang="en-US" sz="1700" b="1" dirty="0">
                <a:solidFill>
                  <a:srgbClr val="10B981"/>
                </a:solidFill>
                <a:latin typeface="Calibri" pitchFamily="34" charset="0"/>
                <a:ea typeface="Calibri" pitchFamily="34" charset="-122"/>
                <a:cs typeface="Calibri" pitchFamily="34" charset="-120"/>
              </a:rPr>
              <a:t>Gestionnaire IT &amp; Parc informatique</a:t>
            </a:r>
            <a:endParaRPr lang="en-US" sz="1700" dirty="0"/>
          </a:p>
          <a:p>
            <a:pPr indent="0" marL="0">
              <a:buNone/>
            </a:pPr>
            <a:r>
              <a:rPr lang="en-US" sz="1200" i="1" dirty="0">
                <a:solidFill>
                  <a:srgbClr val="6B7280"/>
                </a:solidFill>
                <a:latin typeface="Calibri" pitchFamily="34" charset="0"/>
                <a:ea typeface="Calibri" pitchFamily="34" charset="-122"/>
                <a:cs typeface="Calibri" pitchFamily="34" charset="-120"/>
              </a:rPr>
              <a:t>Banque internationale arabe de Tunisie (BIAT)  —  Septembre 2021 – Mai 2022 – Mai 2022</a:t>
            </a:r>
            <a:endParaRPr lang="en-US" sz="1700" dirty="0"/>
          </a:p>
          <a:p>
            <a:pPr marL="342900" indent="-342900">
              <a:spcAft>
                <a:spcPts val="200"/>
              </a:spcAft>
              <a:buSzPct val="100000"/>
              <a:buChar char="•"/>
            </a:pPr>
            <a:r>
              <a:rPr lang="en-US" sz="1200" dirty="0">
                <a:solidFill>
                  <a:srgbClr val="1F2937"/>
                </a:solidFill>
                <a:latin typeface="Calibri" pitchFamily="34" charset="0"/>
                <a:ea typeface="Calibri" pitchFamily="34" charset="-122"/>
                <a:cs typeface="Calibri" pitchFamily="34" charset="-120"/>
              </a:rPr>
              <a:t>Recenser les matériels (ordinateurs, périphériques) et logiciels</a:t>
            </a:r>
            <a:endParaRPr lang="en-US" sz="17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9FAFB"/>
        </a:solidFill>
      </p:bgPr>
    </p:bg>
    <p:spTree>
      <p:nvGrpSpPr>
        <p:cNvPr id="1" name=""/>
        <p:cNvGrpSpPr/>
        <p:nvPr/>
      </p:nvGrpSpPr>
      <p:grpSpPr>
        <a:xfrm>
          <a:off x="0" y="0"/>
          <a:ext cx="0" cy="0"/>
          <a:chOff x="0" y="0"/>
          <a:chExt cx="0" cy="0"/>
        </a:xfrm>
      </p:grpSpPr>
      <p:sp>
        <p:nvSpPr>
          <p:cNvPr id="2" name="Shape 0"/>
          <p:cNvSpPr/>
          <p:nvPr/>
        </p:nvSpPr>
        <p:spPr>
          <a:xfrm>
            <a:off x="548640" y="530352"/>
            <a:ext cx="109728" cy="502920"/>
          </a:xfrm>
          <a:prstGeom prst="rect">
            <a:avLst/>
          </a:prstGeom>
          <a:solidFill>
            <a:srgbClr val="10B981"/>
          </a:solidFill>
          <a:ln/>
        </p:spPr>
      </p:sp>
      <p:sp>
        <p:nvSpPr>
          <p:cNvPr id="3" name="Text 1"/>
          <p:cNvSpPr/>
          <p:nvPr/>
        </p:nvSpPr>
        <p:spPr>
          <a:xfrm>
            <a:off x="777240" y="457200"/>
            <a:ext cx="10863072" cy="640080"/>
          </a:xfrm>
          <a:prstGeom prst="rect">
            <a:avLst/>
          </a:prstGeom>
          <a:noFill/>
          <a:ln/>
        </p:spPr>
        <p:txBody>
          <a:bodyPr wrap="square" rtlCol="0" anchor="ctr"/>
          <a:lstStyle/>
          <a:p>
            <a:pPr indent="0" marL="0">
              <a:buNone/>
            </a:pPr>
            <a:r>
              <a:rPr lang="en-US" sz="2800" b="1" dirty="0">
                <a:solidFill>
                  <a:srgbClr val="1F2937"/>
                </a:solidFill>
                <a:latin typeface="Calibri" pitchFamily="34" charset="0"/>
                <a:ea typeface="Calibri" pitchFamily="34" charset="-122"/>
                <a:cs typeface="Calibri" pitchFamily="34" charset="-120"/>
              </a:rPr>
              <a:t>Formation</a:t>
            </a:r>
            <a:endParaRPr lang="en-US" sz="2800" dirty="0"/>
          </a:p>
        </p:txBody>
      </p:sp>
      <p:sp>
        <p:nvSpPr>
          <p:cNvPr id="4" name="Shape 2"/>
          <p:cNvSpPr/>
          <p:nvPr/>
        </p:nvSpPr>
        <p:spPr>
          <a:xfrm>
            <a:off x="548640" y="1234440"/>
            <a:ext cx="11091672" cy="0"/>
          </a:xfrm>
          <a:prstGeom prst="line">
            <a:avLst/>
          </a:prstGeom>
          <a:noFill/>
          <a:ln w="19050">
            <a:solidFill>
              <a:srgbClr val="10B981"/>
            </a:solidFill>
            <a:prstDash val="solid"/>
          </a:ln>
        </p:spPr>
      </p:sp>
      <p:sp>
        <p:nvSpPr>
          <p:cNvPr id="5" name="Text 3"/>
          <p:cNvSpPr/>
          <p:nvPr/>
        </p:nvSpPr>
        <p:spPr>
          <a:xfrm>
            <a:off x="548640" y="1554480"/>
            <a:ext cx="11091672" cy="1371600"/>
          </a:xfrm>
          <a:prstGeom prst="rect">
            <a:avLst/>
          </a:prstGeom>
          <a:noFill/>
          <a:ln/>
        </p:spPr>
        <p:txBody>
          <a:bodyPr wrap="square" lIns="0" tIns="0" rIns="0" bIns="0" rtlCol="0" anchor="t"/>
          <a:lstStyle/>
          <a:p>
            <a:pPr indent="0" marL="0">
              <a:buNone/>
            </a:pPr>
            <a:r>
              <a:rPr lang="en-US" sz="1700" b="1" dirty="0">
                <a:solidFill>
                  <a:srgbClr val="10B981"/>
                </a:solidFill>
                <a:latin typeface="Calibri" pitchFamily="34" charset="0"/>
                <a:ea typeface="Calibri" pitchFamily="34" charset="-122"/>
                <a:cs typeface="Calibri" pitchFamily="34" charset="-120"/>
              </a:rPr>
              <a:t>Cycle Ingénieur en Informatique - Spécialité IA</a:t>
            </a:r>
            <a:endParaRPr lang="en-US" sz="1700" dirty="0"/>
          </a:p>
          <a:p>
            <a:pPr indent="0" marL="0">
              <a:buNone/>
            </a:pPr>
            <a:r>
              <a:rPr lang="en-US" sz="1200" i="1" dirty="0">
                <a:solidFill>
                  <a:srgbClr val="6B7280"/>
                </a:solidFill>
                <a:latin typeface="Calibri" pitchFamily="34" charset="0"/>
                <a:ea typeface="Calibri" pitchFamily="34" charset="-122"/>
                <a:cs typeface="Calibri" pitchFamily="34" charset="-120"/>
              </a:rPr>
              <a:t>ESPRIT School of Engineering  —  2024 – 2027</a:t>
            </a:r>
            <a:endParaRPr lang="en-US" sz="1700" dirty="0"/>
          </a:p>
          <a:p>
            <a:pPr indent="0" marL="0">
              <a:buNone/>
            </a:pPr>
            <a:r>
              <a:rPr lang="en-US" sz="1200" dirty="0">
                <a:solidFill>
                  <a:srgbClr val="1F2937"/>
                </a:solidFill>
                <a:latin typeface="Calibri" pitchFamily="34" charset="0"/>
                <a:ea typeface="Calibri" pitchFamily="34" charset="-122"/>
                <a:cs typeface="Calibri" pitchFamily="34" charset="-120"/>
              </a:rPr>
              <a:t>Intelligence Artificielle</a:t>
            </a:r>
            <a:endParaRPr lang="en-US" sz="1700" dirty="0"/>
          </a:p>
        </p:txBody>
      </p:sp>
      <p:sp>
        <p:nvSpPr>
          <p:cNvPr id="6" name="Text 4"/>
          <p:cNvSpPr/>
          <p:nvPr/>
        </p:nvSpPr>
        <p:spPr>
          <a:xfrm>
            <a:off x="548640" y="3017520"/>
            <a:ext cx="11091672" cy="1371600"/>
          </a:xfrm>
          <a:prstGeom prst="rect">
            <a:avLst/>
          </a:prstGeom>
          <a:noFill/>
          <a:ln/>
        </p:spPr>
        <p:txBody>
          <a:bodyPr wrap="square" lIns="0" tIns="0" rIns="0" bIns="0" rtlCol="0" anchor="t"/>
          <a:lstStyle/>
          <a:p>
            <a:pPr indent="0" marL="0">
              <a:buNone/>
            </a:pPr>
            <a:r>
              <a:rPr lang="en-US" sz="1700" b="1" dirty="0">
                <a:solidFill>
                  <a:srgbClr val="10B981"/>
                </a:solidFill>
                <a:latin typeface="Calibri" pitchFamily="34" charset="0"/>
                <a:ea typeface="Calibri" pitchFamily="34" charset="-122"/>
                <a:cs typeface="Calibri" pitchFamily="34" charset="-120"/>
              </a:rPr>
              <a:t>Classes Préparatoires Intégrées - Mathématiques Informatique (MI)</a:t>
            </a:r>
            <a:endParaRPr lang="en-US" sz="1700" dirty="0"/>
          </a:p>
          <a:p>
            <a:pPr indent="0" marL="0">
              <a:buNone/>
            </a:pPr>
            <a:r>
              <a:rPr lang="en-US" sz="1200" i="1" dirty="0">
                <a:solidFill>
                  <a:srgbClr val="6B7280"/>
                </a:solidFill>
                <a:latin typeface="Calibri" pitchFamily="34" charset="0"/>
                <a:ea typeface="Calibri" pitchFamily="34" charset="-122"/>
                <a:cs typeface="Calibri" pitchFamily="34" charset="-120"/>
              </a:rPr>
              <a:t>ESPRIT School of Engineering  —  2022 – 2024</a:t>
            </a:r>
            <a:endParaRPr lang="en-US" sz="1700" dirty="0"/>
          </a:p>
          <a:p>
            <a:pPr indent="0" marL="0">
              <a:buNone/>
            </a:pPr>
            <a:r>
              <a:rPr lang="en-US" sz="1200" dirty="0">
                <a:solidFill>
                  <a:srgbClr val="1F2937"/>
                </a:solidFill>
                <a:latin typeface="Calibri" pitchFamily="34" charset="0"/>
                <a:ea typeface="Calibri" pitchFamily="34" charset="-122"/>
                <a:cs typeface="Calibri" pitchFamily="34" charset="-120"/>
              </a:rPr>
              <a:t>Mathématiques &amp; Informatique</a:t>
            </a:r>
            <a:endParaRPr lang="en-US" sz="17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9FAFB"/>
        </a:solidFill>
      </p:bgPr>
    </p:bg>
    <p:spTree>
      <p:nvGrpSpPr>
        <p:cNvPr id="1" name=""/>
        <p:cNvGrpSpPr/>
        <p:nvPr/>
      </p:nvGrpSpPr>
      <p:grpSpPr>
        <a:xfrm>
          <a:off x="0" y="0"/>
          <a:ext cx="0" cy="0"/>
          <a:chOff x="0" y="0"/>
          <a:chExt cx="0" cy="0"/>
        </a:xfrm>
      </p:grpSpPr>
      <p:sp>
        <p:nvSpPr>
          <p:cNvPr id="2" name="Shape 0"/>
          <p:cNvSpPr/>
          <p:nvPr/>
        </p:nvSpPr>
        <p:spPr>
          <a:xfrm>
            <a:off x="548640" y="530352"/>
            <a:ext cx="109728" cy="502920"/>
          </a:xfrm>
          <a:prstGeom prst="rect">
            <a:avLst/>
          </a:prstGeom>
          <a:solidFill>
            <a:srgbClr val="10B981"/>
          </a:solidFill>
          <a:ln/>
        </p:spPr>
      </p:sp>
      <p:sp>
        <p:nvSpPr>
          <p:cNvPr id="3" name="Text 1"/>
          <p:cNvSpPr/>
          <p:nvPr/>
        </p:nvSpPr>
        <p:spPr>
          <a:xfrm>
            <a:off x="777240" y="457200"/>
            <a:ext cx="10863072" cy="640080"/>
          </a:xfrm>
          <a:prstGeom prst="rect">
            <a:avLst/>
          </a:prstGeom>
          <a:noFill/>
          <a:ln/>
        </p:spPr>
        <p:txBody>
          <a:bodyPr wrap="square" rtlCol="0" anchor="ctr"/>
          <a:lstStyle/>
          <a:p>
            <a:pPr indent="0" marL="0">
              <a:buNone/>
            </a:pPr>
            <a:r>
              <a:rPr lang="en-US" sz="2800" b="1" dirty="0">
                <a:solidFill>
                  <a:srgbClr val="1F2937"/>
                </a:solidFill>
                <a:latin typeface="Calibri" pitchFamily="34" charset="0"/>
                <a:ea typeface="Calibri" pitchFamily="34" charset="-122"/>
                <a:cs typeface="Calibri" pitchFamily="34" charset="-120"/>
              </a:rPr>
              <a:t>Compétences &amp; Langues</a:t>
            </a:r>
            <a:endParaRPr lang="en-US" sz="2800" dirty="0"/>
          </a:p>
        </p:txBody>
      </p:sp>
      <p:sp>
        <p:nvSpPr>
          <p:cNvPr id="4" name="Shape 2"/>
          <p:cNvSpPr/>
          <p:nvPr/>
        </p:nvSpPr>
        <p:spPr>
          <a:xfrm>
            <a:off x="548640" y="1234440"/>
            <a:ext cx="11091672" cy="0"/>
          </a:xfrm>
          <a:prstGeom prst="line">
            <a:avLst/>
          </a:prstGeom>
          <a:noFill/>
          <a:ln w="19050">
            <a:solidFill>
              <a:srgbClr val="10B981"/>
            </a:solidFill>
            <a:prstDash val="solid"/>
          </a:ln>
        </p:spPr>
      </p:sp>
      <p:sp>
        <p:nvSpPr>
          <p:cNvPr id="5" name="Text 3"/>
          <p:cNvSpPr/>
          <p:nvPr/>
        </p:nvSpPr>
        <p:spPr>
          <a:xfrm>
            <a:off x="548640" y="1554480"/>
            <a:ext cx="5317236" cy="365760"/>
          </a:xfrm>
          <a:prstGeom prst="rect">
            <a:avLst/>
          </a:prstGeom>
          <a:noFill/>
          <a:ln/>
        </p:spPr>
        <p:txBody>
          <a:bodyPr wrap="square"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Compétences</a:t>
            </a:r>
            <a:endParaRPr lang="en-US" sz="1400" dirty="0"/>
          </a:p>
        </p:txBody>
      </p:sp>
      <p:sp>
        <p:nvSpPr>
          <p:cNvPr id="6" name="Text 4"/>
          <p:cNvSpPr/>
          <p:nvPr/>
        </p:nvSpPr>
        <p:spPr>
          <a:xfrm>
            <a:off x="548640" y="2011680"/>
            <a:ext cx="5317236" cy="4389120"/>
          </a:xfrm>
          <a:prstGeom prst="rect">
            <a:avLst/>
          </a:prstGeom>
          <a:noFill/>
          <a:ln/>
        </p:spPr>
        <p:txBody>
          <a:bodyPr wrap="square" lIns="0" tIns="0" rIns="0" bIns="0" rtlCol="0" anchor="t"/>
          <a:lstStyle/>
          <a:p>
            <a:pPr indent="0" marL="0">
              <a:spcBef>
                <a:spcPts val="400"/>
              </a:spcBef>
              <a:buNone/>
            </a:pPr>
            <a:r>
              <a:rPr lang="en-US" sz="1300" b="1" dirty="0">
                <a:solidFill>
                  <a:srgbClr val="10B981"/>
                </a:solidFill>
                <a:latin typeface="Calibri" pitchFamily="34" charset="0"/>
                <a:ea typeface="Calibri" pitchFamily="34" charset="-122"/>
                <a:cs typeface="Calibri" pitchFamily="34" charset="-120"/>
              </a:rPr>
              <a:t>technique</a:t>
            </a:r>
            <a:endParaRPr lang="en-US" sz="1300" dirty="0"/>
          </a:p>
          <a:p>
            <a:pPr indent="0" marL="0">
              <a:spcAft>
                <a:spcPts val="600"/>
              </a:spcAft>
              <a:buNone/>
            </a:pPr>
            <a:r>
              <a:rPr lang="en-US" sz="1100" dirty="0">
                <a:solidFill>
                  <a:srgbClr val="1F2937"/>
                </a:solidFill>
                <a:latin typeface="Calibri" pitchFamily="34" charset="0"/>
                <a:ea typeface="Calibri" pitchFamily="34" charset="-122"/>
                <a:cs typeface="Calibri" pitchFamily="34" charset="-120"/>
              </a:rPr>
              <a:t>Python  •  C  •  C++  •  Java  •  JavaScript  •  PHP  •  SQL  •  HTML/CSS  •  Django  •  FastAPI  •  Node.js  •  FlutterFlow  •  PyTorch  •  TensorFlow/Keras  •  scikit-learn  •  Hugging Face  •  spaCy  •  LangChain  •  LangGraph  •  NLTK  •  OpenAI API  •  Anthropic Claude  •  MCP  •  A2A  •  RAG  •  OpenCV  •  EfficientNet  •  ResNet  •  CNN  •  Unity  •  AR Foundation  •  Meta Quest 3  •  Dart  •  ROS2  •  TurtleBot3  •  PIC16F84  •  Arduino UNO  •  pandas  •  NumPy  •  Matplotlib  •  Power BI  •  SSIS  •  SSMS  •  Git  •  GitHub  •  Linux  •  Windows</a:t>
            </a:r>
            <a:endParaRPr lang="en-US" sz="1300" dirty="0"/>
          </a:p>
        </p:txBody>
      </p:sp>
      <p:sp>
        <p:nvSpPr>
          <p:cNvPr id="7" name="Text 5"/>
          <p:cNvSpPr/>
          <p:nvPr/>
        </p:nvSpPr>
        <p:spPr>
          <a:xfrm>
            <a:off x="6323076" y="1554480"/>
            <a:ext cx="5317236" cy="365760"/>
          </a:xfrm>
          <a:prstGeom prst="rect">
            <a:avLst/>
          </a:prstGeom>
          <a:noFill/>
          <a:ln/>
        </p:spPr>
        <p:txBody>
          <a:bodyPr wrap="square"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Langues</a:t>
            </a:r>
            <a:endParaRPr lang="en-US" sz="1400" dirty="0"/>
          </a:p>
        </p:txBody>
      </p:sp>
      <p:sp>
        <p:nvSpPr>
          <p:cNvPr id="8" name="Text 6"/>
          <p:cNvSpPr/>
          <p:nvPr/>
        </p:nvSpPr>
        <p:spPr>
          <a:xfrm>
            <a:off x="6323076" y="2011680"/>
            <a:ext cx="5317236" cy="4389120"/>
          </a:xfrm>
          <a:prstGeom prst="rect">
            <a:avLst/>
          </a:prstGeom>
          <a:noFill/>
          <a:ln/>
        </p:spPr>
        <p:txBody>
          <a:bodyPr wrap="square" lIns="0" tIns="0" rIns="0" bIns="0" rtlCol="0" anchor="t"/>
          <a:lstStyle/>
          <a:p>
            <a:pPr indent="0" marL="0">
              <a:buNone/>
            </a:pPr>
            <a:r>
              <a:rPr lang="en-US" sz="1300" b="1" dirty="0">
                <a:solidFill>
                  <a:srgbClr val="1F2937"/>
                </a:solidFill>
                <a:latin typeface="Calibri" pitchFamily="34" charset="0"/>
                <a:ea typeface="Calibri" pitchFamily="34" charset="-122"/>
                <a:cs typeface="Calibri" pitchFamily="34" charset="-120"/>
              </a:rPr>
              <a:t>Arabe</a:t>
            </a:r>
            <a:pPr indent="0" marL="0">
              <a:buNone/>
            </a:pPr>
            <a:r>
              <a:rPr lang="en-US" sz="1200" i="1" dirty="0">
                <a:solidFill>
                  <a:srgbClr val="6B7280"/>
                </a:solidFill>
                <a:latin typeface="Calibri" pitchFamily="34" charset="0"/>
                <a:ea typeface="Calibri" pitchFamily="34" charset="-122"/>
                <a:cs typeface="Calibri" pitchFamily="34" charset="-120"/>
              </a:rPr>
              <a:t> — Langue maternelle</a:t>
            </a:r>
            <a:endParaRPr lang="en-US" sz="1300" dirty="0"/>
          </a:p>
          <a:p>
            <a:pPr indent="0" marL="0">
              <a:buNone/>
            </a:pPr>
            <a:r>
              <a:rPr lang="en-US" sz="1300" b="1" dirty="0">
                <a:solidFill>
                  <a:srgbClr val="1F2937"/>
                </a:solidFill>
                <a:latin typeface="Calibri" pitchFamily="34" charset="0"/>
                <a:ea typeface="Calibri" pitchFamily="34" charset="-122"/>
                <a:cs typeface="Calibri" pitchFamily="34" charset="-120"/>
              </a:rPr>
              <a:t>Français</a:t>
            </a:r>
            <a:pPr indent="0" marL="0">
              <a:buNone/>
            </a:pPr>
            <a:r>
              <a:rPr lang="en-US" sz="1200" i="1" dirty="0">
                <a:solidFill>
                  <a:srgbClr val="6B7280"/>
                </a:solidFill>
                <a:latin typeface="Calibri" pitchFamily="34" charset="0"/>
                <a:ea typeface="Calibri" pitchFamily="34" charset="-122"/>
                <a:cs typeface="Calibri" pitchFamily="34" charset="-120"/>
              </a:rPr>
              <a:t> — B2</a:t>
            </a:r>
            <a:endParaRPr lang="en-US" sz="1300" dirty="0"/>
          </a:p>
          <a:p>
            <a:pPr indent="0" marL="0">
              <a:buNone/>
            </a:pPr>
            <a:r>
              <a:rPr lang="en-US" sz="1300" b="1" dirty="0">
                <a:solidFill>
                  <a:srgbClr val="1F2937"/>
                </a:solidFill>
                <a:latin typeface="Calibri" pitchFamily="34" charset="0"/>
                <a:ea typeface="Calibri" pitchFamily="34" charset="-122"/>
                <a:cs typeface="Calibri" pitchFamily="34" charset="-120"/>
              </a:rPr>
              <a:t>Anglais</a:t>
            </a:r>
            <a:pPr indent="0" marL="0">
              <a:buNone/>
            </a:pPr>
            <a:r>
              <a:rPr lang="en-US" sz="1200" i="1" dirty="0">
                <a:solidFill>
                  <a:srgbClr val="6B7280"/>
                </a:solidFill>
                <a:latin typeface="Calibri" pitchFamily="34" charset="0"/>
                <a:ea typeface="Calibri" pitchFamily="34" charset="-122"/>
                <a:cs typeface="Calibri" pitchFamily="34" charset="-120"/>
              </a:rPr>
              <a:t> — B2</a:t>
            </a:r>
            <a:endParaRPr lang="en-US" sz="1300" dirty="0"/>
          </a:p>
          <a:p>
            <a:pPr indent="0" marL="0">
              <a:buNone/>
            </a:pPr>
            <a:r>
              <a:rPr lang="en-US" sz="1300" b="1" dirty="0">
                <a:solidFill>
                  <a:srgbClr val="1F2937"/>
                </a:solidFill>
                <a:latin typeface="Calibri" pitchFamily="34" charset="0"/>
                <a:ea typeface="Calibri" pitchFamily="34" charset="-122"/>
                <a:cs typeface="Calibri" pitchFamily="34" charset="-120"/>
              </a:rPr>
              <a:t>Espagnol</a:t>
            </a:r>
            <a:pPr indent="0" marL="0">
              <a:buNone/>
            </a:pPr>
            <a:r>
              <a:rPr lang="en-US" sz="1200" i="1" dirty="0">
                <a:solidFill>
                  <a:srgbClr val="6B7280"/>
                </a:solidFill>
                <a:latin typeface="Calibri" pitchFamily="34" charset="0"/>
                <a:ea typeface="Calibri" pitchFamily="34" charset="-122"/>
                <a:cs typeface="Calibri" pitchFamily="34" charset="-120"/>
              </a:rPr>
              <a:t> — A2</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9FAFB"/>
        </a:solidFill>
      </p:bgPr>
    </p:bg>
    <p:spTree>
      <p:nvGrpSpPr>
        <p:cNvPr id="1" name=""/>
        <p:cNvGrpSpPr/>
        <p:nvPr/>
      </p:nvGrpSpPr>
      <p:grpSpPr>
        <a:xfrm>
          <a:off x="0" y="0"/>
          <a:ext cx="0" cy="0"/>
          <a:chOff x="0" y="0"/>
          <a:chExt cx="0" cy="0"/>
        </a:xfrm>
      </p:grpSpPr>
      <p:sp>
        <p:nvSpPr>
          <p:cNvPr id="2" name="Shape 0"/>
          <p:cNvSpPr/>
          <p:nvPr/>
        </p:nvSpPr>
        <p:spPr>
          <a:xfrm>
            <a:off x="548640" y="530352"/>
            <a:ext cx="109728" cy="502920"/>
          </a:xfrm>
          <a:prstGeom prst="rect">
            <a:avLst/>
          </a:prstGeom>
          <a:solidFill>
            <a:srgbClr val="10B981"/>
          </a:solidFill>
          <a:ln/>
        </p:spPr>
      </p:sp>
      <p:sp>
        <p:nvSpPr>
          <p:cNvPr id="3" name="Text 1"/>
          <p:cNvSpPr/>
          <p:nvPr/>
        </p:nvSpPr>
        <p:spPr>
          <a:xfrm>
            <a:off x="777240" y="457200"/>
            <a:ext cx="10863072" cy="640080"/>
          </a:xfrm>
          <a:prstGeom prst="rect">
            <a:avLst/>
          </a:prstGeom>
          <a:noFill/>
          <a:ln/>
        </p:spPr>
        <p:txBody>
          <a:bodyPr wrap="square" rtlCol="0" anchor="ctr"/>
          <a:lstStyle/>
          <a:p>
            <a:pPr indent="0" marL="0">
              <a:buNone/>
            </a:pPr>
            <a:r>
              <a:rPr lang="en-US" sz="2800" b="1" dirty="0">
                <a:solidFill>
                  <a:srgbClr val="1F2937"/>
                </a:solidFill>
                <a:latin typeface="Calibri" pitchFamily="34" charset="0"/>
                <a:ea typeface="Calibri" pitchFamily="34" charset="-122"/>
                <a:cs typeface="Calibri" pitchFamily="34" charset="-120"/>
              </a:rPr>
              <a:t>Projets &amp; Certifications</a:t>
            </a:r>
            <a:endParaRPr lang="en-US" sz="2800" dirty="0"/>
          </a:p>
        </p:txBody>
      </p:sp>
      <p:sp>
        <p:nvSpPr>
          <p:cNvPr id="4" name="Shape 2"/>
          <p:cNvSpPr/>
          <p:nvPr/>
        </p:nvSpPr>
        <p:spPr>
          <a:xfrm>
            <a:off x="548640" y="1234440"/>
            <a:ext cx="11091672" cy="0"/>
          </a:xfrm>
          <a:prstGeom prst="line">
            <a:avLst/>
          </a:prstGeom>
          <a:noFill/>
          <a:ln w="19050">
            <a:solidFill>
              <a:srgbClr val="10B981"/>
            </a:solidFill>
            <a:prstDash val="solid"/>
          </a:ln>
        </p:spPr>
      </p:sp>
      <p:sp>
        <p:nvSpPr>
          <p:cNvPr id="5" name="Text 3"/>
          <p:cNvSpPr/>
          <p:nvPr/>
        </p:nvSpPr>
        <p:spPr>
          <a:xfrm>
            <a:off x="548640" y="1554480"/>
            <a:ext cx="5317236" cy="365760"/>
          </a:xfrm>
          <a:prstGeom prst="rect">
            <a:avLst/>
          </a:prstGeom>
          <a:noFill/>
          <a:ln/>
        </p:spPr>
        <p:txBody>
          <a:bodyPr wrap="square"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Projets</a:t>
            </a:r>
            <a:endParaRPr lang="en-US" sz="1400" dirty="0"/>
          </a:p>
        </p:txBody>
      </p:sp>
      <p:sp>
        <p:nvSpPr>
          <p:cNvPr id="6" name="Text 4"/>
          <p:cNvSpPr/>
          <p:nvPr/>
        </p:nvSpPr>
        <p:spPr>
          <a:xfrm>
            <a:off x="548640" y="2011680"/>
            <a:ext cx="5317236" cy="4389120"/>
          </a:xfrm>
          <a:prstGeom prst="rect">
            <a:avLst/>
          </a:prstGeom>
          <a:noFill/>
          <a:ln/>
        </p:spPr>
        <p:txBody>
          <a:bodyPr wrap="square" lIns="0" tIns="0" rIns="0" bIns="0" rtlCol="0" anchor="t"/>
          <a:lstStyle/>
          <a:p>
            <a:pPr indent="0" marL="0">
              <a:buNone/>
            </a:pPr>
            <a:r>
              <a:rPr lang="en-US" sz="1300" b="1" dirty="0">
                <a:solidFill>
                  <a:srgbClr val="10B981"/>
                </a:solidFill>
                <a:latin typeface="Calibri" pitchFamily="34" charset="0"/>
                <a:ea typeface="Calibri" pitchFamily="34" charset="-122"/>
                <a:cs typeface="Calibri" pitchFamily="34" charset="-120"/>
              </a:rPr>
              <a:t>Projet AR / VR / MR - Unity &amp; Meta Quest 3</a:t>
            </a:r>
            <a:endParaRPr lang="en-US" sz="1300" dirty="0"/>
          </a:p>
          <a:p>
            <a:pPr indent="0" marL="0">
              <a:spcAft>
                <a:spcPts val="400"/>
              </a:spcAft>
              <a:buNone/>
            </a:pPr>
            <a:r>
              <a:rPr lang="en-US" sz="1100" dirty="0">
                <a:solidFill>
                  <a:srgbClr val="1F2937"/>
                </a:solidFill>
                <a:latin typeface="Calibri" pitchFamily="34" charset="0"/>
                <a:ea typeface="Calibri" pitchFamily="34" charset="-122"/>
                <a:cs typeface="Calibri" pitchFamily="34" charset="-120"/>
              </a:rPr>
              <a:t>Développement d’expériences immersives en Réalité Augmentée, Virtuelle et Mixte avec Unity et le casque Meta Quest 3. Conception d’interactions XR (controllers, hand-tracking) et intégration d’assets 3D dans des environ…</a:t>
            </a:r>
            <a:endParaRPr lang="en-US" sz="1300" dirty="0"/>
          </a:p>
          <a:p>
            <a:pPr indent="0" marL="0">
              <a:spcBef>
                <a:spcPts val="600"/>
              </a:spcBef>
              <a:buNone/>
            </a:pPr>
            <a:r>
              <a:rPr lang="en-US" sz="1300" b="1" dirty="0">
                <a:solidFill>
                  <a:srgbClr val="10B981"/>
                </a:solidFill>
                <a:latin typeface="Calibri" pitchFamily="34" charset="0"/>
                <a:ea typeface="Calibri" pitchFamily="34" charset="-122"/>
                <a:cs typeface="Calibri" pitchFamily="34" charset="-120"/>
              </a:rPr>
              <a:t>Système IA d’Assistance aux Personnes Âgées - Architecture 5 Agents (A2A + MCP)</a:t>
            </a:r>
            <a:endParaRPr lang="en-US" sz="1300" dirty="0"/>
          </a:p>
          <a:p>
            <a:pPr indent="0" marL="0">
              <a:spcAft>
                <a:spcPts val="400"/>
              </a:spcAft>
              <a:buNone/>
            </a:pPr>
            <a:r>
              <a:rPr lang="en-US" sz="1100" dirty="0">
                <a:solidFill>
                  <a:srgbClr val="1F2937"/>
                </a:solidFill>
                <a:latin typeface="Calibri" pitchFamily="34" charset="0"/>
                <a:ea typeface="Calibri" pitchFamily="34" charset="-122"/>
                <a:cs typeface="Calibri" pitchFamily="34" charset="-120"/>
              </a:rPr>
              <a:t>Application mobile IA pour accompagner les personnes âgées vivant seules, préservant autonomie et lien familial. Architecture 5 agents (Companion, Analyzer, Memory, Services, Connections) communicant via le protocole MC…</a:t>
            </a:r>
            <a:endParaRPr lang="en-US" sz="1300" dirty="0"/>
          </a:p>
          <a:p>
            <a:pPr indent="0" marL="0">
              <a:spcBef>
                <a:spcPts val="600"/>
              </a:spcBef>
              <a:buNone/>
            </a:pPr>
            <a:r>
              <a:rPr lang="en-US" sz="1300" b="1" dirty="0">
                <a:solidFill>
                  <a:srgbClr val="10B981"/>
                </a:solidFill>
                <a:latin typeface="Calibri" pitchFamily="34" charset="0"/>
                <a:ea typeface="Calibri" pitchFamily="34" charset="-122"/>
                <a:cs typeface="Calibri" pitchFamily="34" charset="-120"/>
              </a:rPr>
              <a:t>Milo Vet Care - Assistant Vétérinaire IA (6 Sous-systèmes)</a:t>
            </a:r>
            <a:endParaRPr lang="en-US" sz="1300" dirty="0"/>
          </a:p>
          <a:p>
            <a:pPr indent="0" marL="0">
              <a:spcAft>
                <a:spcPts val="400"/>
              </a:spcAft>
              <a:buNone/>
            </a:pPr>
            <a:r>
              <a:rPr lang="en-US" sz="1100" dirty="0">
                <a:solidFill>
                  <a:srgbClr val="1F2937"/>
                </a:solidFill>
                <a:latin typeface="Calibri" pitchFamily="34" charset="0"/>
                <a:ea typeface="Calibri" pitchFamily="34" charset="-122"/>
                <a:cs typeface="Calibri" pitchFamily="34" charset="-120"/>
              </a:rPr>
              <a:t>Application vétérinaire IA mobile destinée aux régions sous-desservies (Tunisie rurale), développée selon la méthodologie CBL en partenariat avec la Clinique Vétérinaire Ariana (CVA). Classification d’espèces animales p…</a:t>
            </a:r>
            <a:endParaRPr lang="en-US" sz="1300" dirty="0"/>
          </a:p>
          <a:p>
            <a:pPr indent="0" marL="0">
              <a:spcBef>
                <a:spcPts val="600"/>
              </a:spcBef>
              <a:buNone/>
            </a:pPr>
            <a:r>
              <a:rPr lang="en-US" sz="1300" b="1" dirty="0">
                <a:solidFill>
                  <a:srgbClr val="10B981"/>
                </a:solidFill>
                <a:latin typeface="Calibri" pitchFamily="34" charset="0"/>
                <a:ea typeface="Calibri" pitchFamily="34" charset="-122"/>
                <a:cs typeface="Calibri" pitchFamily="34" charset="-120"/>
              </a:rPr>
              <a:t>Projet Robotique - TurtleBot3</a:t>
            </a:r>
            <a:endParaRPr lang="en-US" sz="1300" dirty="0"/>
          </a:p>
          <a:p>
            <a:pPr indent="0" marL="0">
              <a:spcAft>
                <a:spcPts val="400"/>
              </a:spcAft>
              <a:buNone/>
            </a:pPr>
            <a:r>
              <a:rPr lang="en-US" sz="1100" dirty="0">
                <a:solidFill>
                  <a:srgbClr val="1F2937"/>
                </a:solidFill>
                <a:latin typeface="Calibri" pitchFamily="34" charset="0"/>
                <a:ea typeface="Calibri" pitchFamily="34" charset="-122"/>
                <a:cs typeface="Calibri" pitchFamily="34" charset="-120"/>
              </a:rPr>
              <a:t>Programmation et contrôle du robot TurtleBot3 via ROS2 : navigation autonome, cartographie et évitement d’obstacles. Implémentation d’algorithmes de déplacement et de perception dans un environnement réel. Technologies…</a:t>
            </a:r>
            <a:endParaRPr lang="en-US" sz="1300" dirty="0"/>
          </a:p>
          <a:p>
            <a:pPr indent="0" marL="0">
              <a:spcBef>
                <a:spcPts val="600"/>
              </a:spcBef>
              <a:buNone/>
            </a:pPr>
            <a:r>
              <a:rPr lang="en-US" sz="1300" b="1" dirty="0">
                <a:solidFill>
                  <a:srgbClr val="10B981"/>
                </a:solidFill>
                <a:latin typeface="Calibri" pitchFamily="34" charset="0"/>
                <a:ea typeface="Calibri" pitchFamily="34" charset="-122"/>
                <a:cs typeface="Calibri" pitchFamily="34" charset="-120"/>
              </a:rPr>
              <a:t>Application Mobile Salle de Sport avec IA - FlutterFlow</a:t>
            </a:r>
            <a:endParaRPr lang="en-US" sz="1300" dirty="0"/>
          </a:p>
          <a:p>
            <a:pPr indent="0" marL="0">
              <a:spcAft>
                <a:spcPts val="400"/>
              </a:spcAft>
              <a:buNone/>
            </a:pPr>
            <a:r>
              <a:rPr lang="en-US" sz="1100" dirty="0">
                <a:solidFill>
                  <a:srgbClr val="1F2937"/>
                </a:solidFill>
                <a:latin typeface="Calibri" pitchFamily="34" charset="0"/>
                <a:ea typeface="Calibri" pitchFamily="34" charset="-122"/>
                <a:cs typeface="Calibri" pitchFamily="34" charset="-120"/>
              </a:rPr>
              <a:t>Application mobile pour la gestion d’une salle de sport (abonnements, séances, suivi membres). Intégration de fonctionnalités IA : recommandations d’entraînement personnalisées et suivi intelligent des performances. Tec…</a:t>
            </a:r>
            <a:endParaRPr lang="en-US" sz="1300" dirty="0"/>
          </a:p>
          <a:p>
            <a:pPr indent="0" marL="0">
              <a:spcBef>
                <a:spcPts val="600"/>
              </a:spcBef>
              <a:buNone/>
            </a:pPr>
            <a:r>
              <a:rPr lang="en-US" sz="1300" b="1" dirty="0">
                <a:solidFill>
                  <a:srgbClr val="10B981"/>
                </a:solidFill>
                <a:latin typeface="Calibri" pitchFamily="34" charset="0"/>
                <a:ea typeface="Calibri" pitchFamily="34" charset="-122"/>
                <a:cs typeface="Calibri" pitchFamily="34" charset="-120"/>
              </a:rPr>
              <a:t>Analyse Environnementale &amp; Santé Publique (ML &amp; Entrepôt de Données)</a:t>
            </a:r>
            <a:endParaRPr lang="en-US" sz="1300" dirty="0"/>
          </a:p>
          <a:p>
            <a:pPr indent="0" marL="0">
              <a:spcAft>
                <a:spcPts val="400"/>
              </a:spcAft>
              <a:buNone/>
            </a:pPr>
            <a:r>
              <a:rPr lang="en-US" sz="1100" dirty="0">
                <a:solidFill>
                  <a:srgbClr val="1F2937"/>
                </a:solidFill>
                <a:latin typeface="Calibri" pitchFamily="34" charset="0"/>
                <a:ea typeface="Calibri" pitchFamily="34" charset="-122"/>
                <a:cs typeface="Calibri" pitchFamily="34" charset="-120"/>
              </a:rPr>
              <a:t>Entrepôt de données en schéma étoile intégrant données de pollution, santé, trafic et démographiques (New York). Modèles ML (classification des niveaux de risque, régression PM2.5 &amp; SO2, clustering régional). Tableaux d…</a:t>
            </a:r>
            <a:endParaRPr lang="en-US" sz="1300" dirty="0"/>
          </a:p>
          <a:p>
            <a:pPr indent="0" marL="0">
              <a:spcBef>
                <a:spcPts val="600"/>
              </a:spcBef>
              <a:buNone/>
            </a:pPr>
            <a:r>
              <a:rPr lang="en-US" sz="1300" b="1" dirty="0">
                <a:solidFill>
                  <a:srgbClr val="10B981"/>
                </a:solidFill>
                <a:latin typeface="Calibri" pitchFamily="34" charset="0"/>
                <a:ea typeface="Calibri" pitchFamily="34" charset="-122"/>
                <a:cs typeface="Calibri" pitchFamily="34" charset="-120"/>
              </a:rPr>
              <a:t>Application Web Sportive - Gestion de Projet Agile (Scrum Master)</a:t>
            </a:r>
            <a:endParaRPr lang="en-US" sz="1300" dirty="0"/>
          </a:p>
          <a:p>
            <a:pPr indent="0" marL="0">
              <a:spcAft>
                <a:spcPts val="400"/>
              </a:spcAft>
              <a:buNone/>
            </a:pPr>
            <a:r>
              <a:rPr lang="en-US" sz="1100" dirty="0">
                <a:solidFill>
                  <a:srgbClr val="1F2937"/>
                </a:solidFill>
                <a:latin typeface="Calibri" pitchFamily="34" charset="0"/>
                <a:ea typeface="Calibri" pitchFamily="34" charset="-122"/>
                <a:cs typeface="Calibri" pitchFamily="34" charset="-120"/>
              </a:rPr>
              <a:t>Développement d’une application web dédiée au sport (gestion des entraînements, réservations de séances, suivi des performances). Pilotage du projet selon la méthodologie Agile Scrum en tant que Scrum Master (sprint pla…</a:t>
            </a:r>
            <a:endParaRPr lang="en-US" sz="1300" dirty="0"/>
          </a:p>
          <a:p>
            <a:pPr indent="0" marL="0">
              <a:spcBef>
                <a:spcPts val="600"/>
              </a:spcBef>
              <a:buNone/>
            </a:pPr>
            <a:r>
              <a:rPr lang="en-US" sz="1300" b="1" dirty="0">
                <a:solidFill>
                  <a:srgbClr val="10B981"/>
                </a:solidFill>
                <a:latin typeface="Calibri" pitchFamily="34" charset="0"/>
                <a:ea typeface="Calibri" pitchFamily="34" charset="-122"/>
                <a:cs typeface="Calibri" pitchFamily="34" charset="-120"/>
              </a:rPr>
              <a:t>Distributeur de Boissons &amp; Snacks - Microcontrôleur PIC16F84</a:t>
            </a:r>
            <a:endParaRPr lang="en-US" sz="1300" dirty="0"/>
          </a:p>
          <a:p>
            <a:pPr indent="0" marL="0">
              <a:spcAft>
                <a:spcPts val="400"/>
              </a:spcAft>
              <a:buNone/>
            </a:pPr>
            <a:r>
              <a:rPr lang="en-US" sz="1100" dirty="0">
                <a:solidFill>
                  <a:srgbClr val="1F2937"/>
                </a:solidFill>
                <a:latin typeface="Calibri" pitchFamily="34" charset="0"/>
                <a:ea typeface="Calibri" pitchFamily="34" charset="-122"/>
                <a:cs typeface="Calibri" pitchFamily="34" charset="-120"/>
              </a:rPr>
              <a:t>Conception et programmation d’un distributeur automatique de boissons et snacks sur microcontrôleur PIC16F84 en C (gestion des entrées/sorties, moteurs, afficheur). Technologies : C, PIC16F84, MPLAB, Proteus.</a:t>
            </a:r>
            <a:endParaRPr lang="en-US" sz="1300" dirty="0"/>
          </a:p>
          <a:p>
            <a:pPr indent="0" marL="0">
              <a:spcBef>
                <a:spcPts val="600"/>
              </a:spcBef>
              <a:buNone/>
            </a:pPr>
            <a:r>
              <a:rPr lang="en-US" sz="1300" b="1" dirty="0">
                <a:solidFill>
                  <a:srgbClr val="10B981"/>
                </a:solidFill>
                <a:latin typeface="Calibri" pitchFamily="34" charset="0"/>
                <a:ea typeface="Calibri" pitchFamily="34" charset="-122"/>
                <a:cs typeface="Calibri" pitchFamily="34" charset="-120"/>
              </a:rPr>
              <a:t>Application Desktop Centre de Kinésithérapie</a:t>
            </a:r>
            <a:endParaRPr lang="en-US" sz="1300" dirty="0"/>
          </a:p>
          <a:p>
            <a:pPr indent="0" marL="0">
              <a:spcAft>
                <a:spcPts val="400"/>
              </a:spcAft>
              <a:buNone/>
            </a:pPr>
            <a:r>
              <a:rPr lang="en-US" sz="1100" dirty="0">
                <a:solidFill>
                  <a:srgbClr val="1F2937"/>
                </a:solidFill>
                <a:latin typeface="Calibri" pitchFamily="34" charset="0"/>
                <a:ea typeface="Calibri" pitchFamily="34" charset="-122"/>
                <a:cs typeface="Calibri" pitchFamily="34" charset="-120"/>
              </a:rPr>
              <a:t>Système de gestion des dossiers patients, rendez-vous et séances de thérapie. Conception d’une maquette physique avec Arduino UNO pour simuler des interactions matérielles. Technologies : C++, Qt, Arduino UNO.</a:t>
            </a:r>
            <a:endParaRPr lang="en-US" sz="1300" dirty="0"/>
          </a:p>
          <a:p>
            <a:pPr indent="0" marL="0">
              <a:spcBef>
                <a:spcPts val="600"/>
              </a:spcBef>
              <a:buNone/>
            </a:pPr>
            <a:r>
              <a:rPr lang="en-US" sz="1300" b="1" dirty="0">
                <a:solidFill>
                  <a:srgbClr val="10B981"/>
                </a:solidFill>
                <a:latin typeface="Calibri" pitchFamily="34" charset="0"/>
                <a:ea typeface="Calibri" pitchFamily="34" charset="-122"/>
                <a:cs typeface="Calibri" pitchFamily="34" charset="-120"/>
              </a:rPr>
              <a:t>Jeu 2D SDL - Projet Programmation Système</a:t>
            </a:r>
            <a:endParaRPr lang="en-US" sz="1300" dirty="0"/>
          </a:p>
          <a:p>
            <a:pPr indent="0" marL="0">
              <a:spcAft>
                <a:spcPts val="400"/>
              </a:spcAft>
              <a:buNone/>
            </a:pPr>
            <a:r>
              <a:rPr lang="en-US" sz="1100" dirty="0">
                <a:solidFill>
                  <a:srgbClr val="1F2937"/>
                </a:solidFill>
                <a:latin typeface="Calibri" pitchFamily="34" charset="0"/>
                <a:ea typeface="Calibri" pitchFamily="34" charset="-122"/>
                <a:cs typeface="Calibri" pitchFamily="34" charset="-120"/>
              </a:rPr>
              <a:t>Conception et développement d’un jeu 2D illustrant la logique de jeu, le rendu graphique et la gestion des événements. Fabrication d’une manette physique sur mesure avec Arduino UNO interfacée via port série. Technologi…</a:t>
            </a:r>
            <a:endParaRPr lang="en-US" sz="1300" dirty="0"/>
          </a:p>
        </p:txBody>
      </p:sp>
      <p:sp>
        <p:nvSpPr>
          <p:cNvPr id="7" name="Text 5"/>
          <p:cNvSpPr/>
          <p:nvPr/>
        </p:nvSpPr>
        <p:spPr>
          <a:xfrm>
            <a:off x="6323076" y="1554480"/>
            <a:ext cx="5317236" cy="365760"/>
          </a:xfrm>
          <a:prstGeom prst="rect">
            <a:avLst/>
          </a:prstGeom>
          <a:noFill/>
          <a:ln/>
        </p:spPr>
        <p:txBody>
          <a:bodyPr wrap="square"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Certifications</a:t>
            </a:r>
            <a:endParaRPr lang="en-US" sz="1400" dirty="0"/>
          </a:p>
        </p:txBody>
      </p:sp>
      <p:sp>
        <p:nvSpPr>
          <p:cNvPr id="8" name="Text 6"/>
          <p:cNvSpPr/>
          <p:nvPr/>
        </p:nvSpPr>
        <p:spPr>
          <a:xfrm>
            <a:off x="6323076" y="2011680"/>
            <a:ext cx="5317236" cy="4389120"/>
          </a:xfrm>
          <a:prstGeom prst="rect">
            <a:avLst/>
          </a:prstGeom>
          <a:noFill/>
          <a:ln/>
        </p:spPr>
        <p:txBody>
          <a:bodyPr wrap="square" lIns="0" tIns="0" rIns="0" bIns="0" rtlCol="0" anchor="t"/>
          <a:lstStyle/>
          <a:p>
            <a:pPr indent="0" marL="0">
              <a:buNone/>
            </a:pPr>
            <a:r>
              <a:rPr lang="en-US" sz="1300" b="1" dirty="0">
                <a:solidFill>
                  <a:srgbClr val="10B981"/>
                </a:solidFill>
                <a:latin typeface="Calibri" pitchFamily="34" charset="0"/>
                <a:ea typeface="Calibri" pitchFamily="34" charset="-122"/>
                <a:cs typeface="Calibri" pitchFamily="34" charset="-120"/>
              </a:rPr>
              <a:t>Fundamentals of Deep Learning</a:t>
            </a:r>
            <a:endParaRPr lang="en-US" sz="1300" dirty="0"/>
          </a:p>
          <a:p>
            <a:pPr indent="0" marL="0">
              <a:spcAft>
                <a:spcPts val="400"/>
              </a:spcAft>
              <a:buNone/>
            </a:pPr>
            <a:r>
              <a:rPr lang="en-US" sz="1100" i="1" dirty="0">
                <a:solidFill>
                  <a:srgbClr val="6B7280"/>
                </a:solidFill>
                <a:latin typeface="Calibri" pitchFamily="34" charset="0"/>
                <a:ea typeface="Calibri" pitchFamily="34" charset="-122"/>
                <a:cs typeface="Calibri" pitchFamily="34" charset="-120"/>
              </a:rPr>
              <a:t>NVIDIA DLI</a:t>
            </a:r>
            <a:endParaRPr lang="en-US" sz="1300" dirty="0"/>
          </a:p>
          <a:p>
            <a:pPr indent="0" marL="0">
              <a:spcBef>
                <a:spcPts val="600"/>
              </a:spcBef>
              <a:buNone/>
            </a:pPr>
            <a:r>
              <a:rPr lang="en-US" sz="1300" b="1" dirty="0">
                <a:solidFill>
                  <a:srgbClr val="10B981"/>
                </a:solidFill>
                <a:latin typeface="Calibri" pitchFamily="34" charset="0"/>
                <a:ea typeface="Calibri" pitchFamily="34" charset="-122"/>
                <a:cs typeface="Calibri" pitchFamily="34" charset="-120"/>
              </a:rPr>
              <a:t>Generative AI with Diffusion Models</a:t>
            </a:r>
            <a:endParaRPr lang="en-US" sz="1300" dirty="0"/>
          </a:p>
          <a:p>
            <a:pPr indent="0" marL="0">
              <a:spcAft>
                <a:spcPts val="400"/>
              </a:spcAft>
              <a:buNone/>
            </a:pPr>
            <a:r>
              <a:rPr lang="en-US" sz="1100" i="1" dirty="0">
                <a:solidFill>
                  <a:srgbClr val="6B7280"/>
                </a:solidFill>
                <a:latin typeface="Calibri" pitchFamily="34" charset="0"/>
                <a:ea typeface="Calibri" pitchFamily="34" charset="-122"/>
                <a:cs typeface="Calibri" pitchFamily="34" charset="-120"/>
              </a:rPr>
              <a:t>NVIDIA DLI</a:t>
            </a:r>
            <a:endParaRPr lang="en-US" sz="1300" dirty="0"/>
          </a:p>
          <a:p>
            <a:pPr indent="0" marL="0">
              <a:spcBef>
                <a:spcPts val="600"/>
              </a:spcBef>
              <a:buNone/>
            </a:pPr>
            <a:r>
              <a:rPr lang="en-US" sz="1300" b="1" dirty="0">
                <a:solidFill>
                  <a:srgbClr val="10B981"/>
                </a:solidFill>
                <a:latin typeface="Calibri" pitchFamily="34" charset="0"/>
                <a:ea typeface="Calibri" pitchFamily="34" charset="-122"/>
                <a:cs typeface="Calibri" pitchFamily="34" charset="-120"/>
              </a:rPr>
              <a:t>Evaluation and Light Customization of Large Language Models</a:t>
            </a:r>
            <a:endParaRPr lang="en-US" sz="1300" dirty="0"/>
          </a:p>
          <a:p>
            <a:pPr indent="0" marL="0">
              <a:spcAft>
                <a:spcPts val="400"/>
              </a:spcAft>
              <a:buNone/>
            </a:pPr>
            <a:r>
              <a:rPr lang="en-US" sz="1100" i="1" dirty="0">
                <a:solidFill>
                  <a:srgbClr val="6B7280"/>
                </a:solidFill>
                <a:latin typeface="Calibri" pitchFamily="34" charset="0"/>
                <a:ea typeface="Calibri" pitchFamily="34" charset="-122"/>
                <a:cs typeface="Calibri" pitchFamily="34" charset="-120"/>
              </a:rPr>
              <a:t>NVIDIA DLI</a:t>
            </a:r>
            <a:endParaRPr lang="en-US" sz="1300" dirty="0"/>
          </a:p>
          <a:p>
            <a:pPr indent="0" marL="0">
              <a:spcBef>
                <a:spcPts val="600"/>
              </a:spcBef>
              <a:buNone/>
            </a:pPr>
            <a:r>
              <a:rPr lang="en-US" sz="1300" b="1" dirty="0">
                <a:solidFill>
                  <a:srgbClr val="10B981"/>
                </a:solidFill>
                <a:latin typeface="Calibri" pitchFamily="34" charset="0"/>
                <a:ea typeface="Calibri" pitchFamily="34" charset="-122"/>
                <a:cs typeface="Calibri" pitchFamily="34" charset="-120"/>
              </a:rPr>
              <a:t>Building AI Agents with Multimodal Models</a:t>
            </a:r>
            <a:endParaRPr lang="en-US" sz="1300" dirty="0"/>
          </a:p>
          <a:p>
            <a:pPr indent="0" marL="0">
              <a:spcAft>
                <a:spcPts val="400"/>
              </a:spcAft>
              <a:buNone/>
            </a:pPr>
            <a:r>
              <a:rPr lang="en-US" sz="1100" i="1" dirty="0">
                <a:solidFill>
                  <a:srgbClr val="6B7280"/>
                </a:solidFill>
                <a:latin typeface="Calibri" pitchFamily="34" charset="0"/>
                <a:ea typeface="Calibri" pitchFamily="34" charset="-122"/>
                <a:cs typeface="Calibri" pitchFamily="34" charset="-120"/>
              </a:rPr>
              <a:t>NVIDIA DLI</a:t>
            </a:r>
            <a:endParaRPr lang="en-US" sz="1300" dirty="0"/>
          </a:p>
          <a:p>
            <a:pPr indent="0" marL="0">
              <a:spcBef>
                <a:spcPts val="600"/>
              </a:spcBef>
              <a:buNone/>
            </a:pPr>
            <a:r>
              <a:rPr lang="en-US" sz="1300" b="1" dirty="0">
                <a:solidFill>
                  <a:srgbClr val="10B981"/>
                </a:solidFill>
                <a:latin typeface="Calibri" pitchFamily="34" charset="0"/>
                <a:ea typeface="Calibri" pitchFamily="34" charset="-122"/>
                <a:cs typeface="Calibri" pitchFamily="34" charset="-120"/>
              </a:rPr>
              <a:t>Adding New Knowledge to LLMs</a:t>
            </a:r>
            <a:endParaRPr lang="en-US" sz="1300" dirty="0"/>
          </a:p>
          <a:p>
            <a:pPr indent="0" marL="0">
              <a:spcAft>
                <a:spcPts val="400"/>
              </a:spcAft>
              <a:buNone/>
            </a:pPr>
            <a:r>
              <a:rPr lang="en-US" sz="1100" i="1" dirty="0">
                <a:solidFill>
                  <a:srgbClr val="6B7280"/>
                </a:solidFill>
                <a:latin typeface="Calibri" pitchFamily="34" charset="0"/>
                <a:ea typeface="Calibri" pitchFamily="34" charset="-122"/>
                <a:cs typeface="Calibri" pitchFamily="34" charset="-120"/>
              </a:rPr>
              <a:t>NVIDIA DLI</a:t>
            </a:r>
            <a:endParaRPr lang="en-US" sz="1300" dirty="0"/>
          </a:p>
          <a:p>
            <a:pPr indent="0" marL="0">
              <a:spcBef>
                <a:spcPts val="600"/>
              </a:spcBef>
              <a:buNone/>
            </a:pPr>
            <a:r>
              <a:rPr lang="en-US" sz="1300" b="1" dirty="0">
                <a:solidFill>
                  <a:srgbClr val="10B981"/>
                </a:solidFill>
                <a:latin typeface="Calibri" pitchFamily="34" charset="0"/>
                <a:ea typeface="Calibri" pitchFamily="34" charset="-122"/>
                <a:cs typeface="Calibri" pitchFamily="34" charset="-120"/>
              </a:rPr>
              <a:t>Building Transformer-Based Natural Language Processing</a:t>
            </a:r>
            <a:endParaRPr lang="en-US" sz="1300" dirty="0"/>
          </a:p>
          <a:p>
            <a:pPr indent="0" marL="0">
              <a:spcAft>
                <a:spcPts val="400"/>
              </a:spcAft>
              <a:buNone/>
            </a:pPr>
            <a:r>
              <a:rPr lang="en-US" sz="1100" i="1" dirty="0">
                <a:solidFill>
                  <a:srgbClr val="6B7280"/>
                </a:solidFill>
                <a:latin typeface="Calibri" pitchFamily="34" charset="0"/>
                <a:ea typeface="Calibri" pitchFamily="34" charset="-122"/>
                <a:cs typeface="Calibri" pitchFamily="34" charset="-120"/>
              </a:rPr>
              <a:t>NVIDIA DLI</a:t>
            </a:r>
            <a:endParaRPr lang="en-US" sz="1300" dirty="0"/>
          </a:p>
          <a:p>
            <a:pPr indent="0" marL="0">
              <a:spcBef>
                <a:spcPts val="600"/>
              </a:spcBef>
              <a:buNone/>
            </a:pPr>
            <a:r>
              <a:rPr lang="en-US" sz="1300" b="1" dirty="0">
                <a:solidFill>
                  <a:srgbClr val="10B981"/>
                </a:solidFill>
                <a:latin typeface="Calibri" pitchFamily="34" charset="0"/>
                <a:ea typeface="Calibri" pitchFamily="34" charset="-122"/>
                <a:cs typeface="Calibri" pitchFamily="34" charset="-120"/>
              </a:rPr>
              <a:t>Claude 101 &amp; Claude Code 101 &amp; In Action &amp; AI Fluency</a:t>
            </a:r>
            <a:endParaRPr lang="en-US" sz="1300" dirty="0"/>
          </a:p>
          <a:p>
            <a:pPr indent="0" marL="0">
              <a:spcAft>
                <a:spcPts val="400"/>
              </a:spcAft>
              <a:buNone/>
            </a:pPr>
            <a:r>
              <a:rPr lang="en-US" sz="1100" i="1" dirty="0">
                <a:solidFill>
                  <a:srgbClr val="6B7280"/>
                </a:solidFill>
                <a:latin typeface="Calibri" pitchFamily="34" charset="0"/>
                <a:ea typeface="Calibri" pitchFamily="34" charset="-122"/>
                <a:cs typeface="Calibri" pitchFamily="34" charset="-120"/>
              </a:rPr>
              <a:t>Anthropic</a:t>
            </a:r>
            <a:endParaRPr lang="en-US" sz="1300" dirty="0"/>
          </a:p>
          <a:p>
            <a:pPr indent="0" marL="0">
              <a:spcBef>
                <a:spcPts val="600"/>
              </a:spcBef>
              <a:buNone/>
            </a:pPr>
            <a:r>
              <a:rPr lang="en-US" sz="1300" b="1" dirty="0">
                <a:solidFill>
                  <a:srgbClr val="10B981"/>
                </a:solidFill>
                <a:latin typeface="Calibri" pitchFamily="34" charset="0"/>
                <a:ea typeface="Calibri" pitchFamily="34" charset="-122"/>
                <a:cs typeface="Calibri" pitchFamily="34" charset="-120"/>
              </a:rPr>
              <a:t>AI Agents in Practice &amp; Build Chat Applications</a:t>
            </a:r>
            <a:endParaRPr lang="en-US" sz="1300" dirty="0"/>
          </a:p>
          <a:p>
            <a:pPr indent="0" marL="0">
              <a:spcAft>
                <a:spcPts val="400"/>
              </a:spcAft>
              <a:buNone/>
            </a:pPr>
            <a:r>
              <a:rPr lang="en-US" sz="1100" i="1" dirty="0">
                <a:solidFill>
                  <a:srgbClr val="6B7280"/>
                </a:solidFill>
                <a:latin typeface="Calibri" pitchFamily="34" charset="0"/>
                <a:ea typeface="Calibri" pitchFamily="34" charset="-122"/>
                <a:cs typeface="Calibri" pitchFamily="34" charset="-120"/>
              </a:rPr>
              <a:t>365 Data Science</a:t>
            </a:r>
            <a:endParaRPr lang="en-US" sz="1300" dirty="0"/>
          </a:p>
          <a:p>
            <a:pPr indent="0" marL="0">
              <a:spcBef>
                <a:spcPts val="600"/>
              </a:spcBef>
              <a:buNone/>
            </a:pPr>
            <a:r>
              <a:rPr lang="en-US" sz="1300" b="1" dirty="0">
                <a:solidFill>
                  <a:srgbClr val="10B981"/>
                </a:solidFill>
                <a:latin typeface="Calibri" pitchFamily="34" charset="0"/>
                <a:ea typeface="Calibri" pitchFamily="34" charset="-122"/>
                <a:cs typeface="Calibri" pitchFamily="34" charset="-120"/>
              </a:rPr>
              <a:t>AI Ethics &amp; AI Strategy</a:t>
            </a:r>
            <a:endParaRPr lang="en-US" sz="1300" dirty="0"/>
          </a:p>
          <a:p>
            <a:pPr indent="0" marL="0">
              <a:spcAft>
                <a:spcPts val="400"/>
              </a:spcAft>
              <a:buNone/>
            </a:pPr>
            <a:r>
              <a:rPr lang="en-US" sz="1100" i="1" dirty="0">
                <a:solidFill>
                  <a:srgbClr val="6B7280"/>
                </a:solidFill>
                <a:latin typeface="Calibri" pitchFamily="34" charset="0"/>
                <a:ea typeface="Calibri" pitchFamily="34" charset="-122"/>
                <a:cs typeface="Calibri" pitchFamily="34" charset="-120"/>
              </a:rPr>
              <a:t>365 Financial Analyst</a:t>
            </a:r>
            <a:endParaRPr lang="en-US" sz="1300" dirty="0"/>
          </a:p>
          <a:p>
            <a:pPr indent="0" marL="0">
              <a:spcBef>
                <a:spcPts val="600"/>
              </a:spcBef>
              <a:buNone/>
            </a:pPr>
            <a:r>
              <a:rPr lang="en-US" sz="1300" b="1" dirty="0">
                <a:solidFill>
                  <a:srgbClr val="10B981"/>
                </a:solidFill>
                <a:latin typeface="Calibri" pitchFamily="34" charset="0"/>
                <a:ea typeface="Calibri" pitchFamily="34" charset="-122"/>
                <a:cs typeface="Calibri" pitchFamily="34" charset="-120"/>
              </a:rPr>
              <a:t>Introduction to Modern AI &amp; Data Science Essentials</a:t>
            </a:r>
            <a:endParaRPr lang="en-US" sz="1300" dirty="0"/>
          </a:p>
          <a:p>
            <a:pPr indent="0" marL="0">
              <a:spcAft>
                <a:spcPts val="400"/>
              </a:spcAft>
              <a:buNone/>
            </a:pPr>
            <a:r>
              <a:rPr lang="en-US" sz="1100" i="1" dirty="0">
                <a:solidFill>
                  <a:srgbClr val="6B7280"/>
                </a:solidFill>
                <a:latin typeface="Calibri" pitchFamily="34" charset="0"/>
                <a:ea typeface="Calibri" pitchFamily="34" charset="-122"/>
                <a:cs typeface="Calibri" pitchFamily="34" charset="-120"/>
              </a:rPr>
              <a:t>Cisco Networking Academy</a:t>
            </a:r>
            <a:endParaRPr lang="en-US" sz="1300" dirty="0"/>
          </a:p>
          <a:p>
            <a:pPr indent="0" marL="0">
              <a:spcBef>
                <a:spcPts val="600"/>
              </a:spcBef>
              <a:buNone/>
            </a:pPr>
            <a:r>
              <a:rPr lang="en-US" sz="1300" b="1" dirty="0">
                <a:solidFill>
                  <a:srgbClr val="10B981"/>
                </a:solidFill>
                <a:latin typeface="Calibri" pitchFamily="34" charset="0"/>
                <a:ea typeface="Calibri" pitchFamily="34" charset="-122"/>
                <a:cs typeface="Calibri" pitchFamily="34" charset="-120"/>
              </a:rPr>
              <a:t>AI Fundamentals</a:t>
            </a:r>
            <a:endParaRPr lang="en-US" sz="1300" dirty="0"/>
          </a:p>
          <a:p>
            <a:pPr indent="0" marL="0">
              <a:spcAft>
                <a:spcPts val="400"/>
              </a:spcAft>
              <a:buNone/>
            </a:pPr>
            <a:r>
              <a:rPr lang="en-US" sz="1100" i="1" dirty="0">
                <a:solidFill>
                  <a:srgbClr val="6B7280"/>
                </a:solidFill>
                <a:latin typeface="Calibri" pitchFamily="34" charset="0"/>
                <a:ea typeface="Calibri" pitchFamily="34" charset="-122"/>
                <a:cs typeface="Calibri" pitchFamily="34" charset="-120"/>
              </a:rPr>
              <a:t>IBM SkillsBuild</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F2937"/>
        </a:solidFill>
      </p:bgPr>
    </p:bg>
    <p:spTree>
      <p:nvGrpSpPr>
        <p:cNvPr id="1" name=""/>
        <p:cNvGrpSpPr/>
        <p:nvPr/>
      </p:nvGrpSpPr>
      <p:grpSpPr>
        <a:xfrm>
          <a:off x="0" y="0"/>
          <a:ext cx="0" cy="0"/>
          <a:chOff x="0" y="0"/>
          <a:chExt cx="0" cy="0"/>
        </a:xfrm>
      </p:grpSpPr>
      <p:sp>
        <p:nvSpPr>
          <p:cNvPr id="2" name="Shape 0"/>
          <p:cNvSpPr/>
          <p:nvPr/>
        </p:nvSpPr>
        <p:spPr>
          <a:xfrm>
            <a:off x="0" y="6693408"/>
            <a:ext cx="12188952" cy="164592"/>
          </a:xfrm>
          <a:prstGeom prst="rect">
            <a:avLst/>
          </a:prstGeom>
          <a:solidFill>
            <a:srgbClr val="10B981"/>
          </a:solidFill>
          <a:ln/>
        </p:spPr>
      </p:sp>
      <p:sp>
        <p:nvSpPr>
          <p:cNvPr id="3" name="Text 1"/>
          <p:cNvSpPr/>
          <p:nvPr/>
        </p:nvSpPr>
        <p:spPr>
          <a:xfrm>
            <a:off x="457200" y="2011680"/>
            <a:ext cx="11274552" cy="1463040"/>
          </a:xfrm>
          <a:prstGeom prst="rect">
            <a:avLst/>
          </a:prstGeom>
          <a:noFill/>
          <a:ln/>
        </p:spPr>
        <p:txBody>
          <a:bodyPr wrap="square" rtlCol="0" anchor="ctr"/>
          <a:lstStyle/>
          <a:p>
            <a:pPr algn="ctr" indent="0" marL="0">
              <a:buNone/>
            </a:pPr>
            <a:r>
              <a:rPr lang="en-US" sz="5400" b="1" dirty="0">
                <a:solidFill>
                  <a:srgbClr val="FFFFFF"/>
                </a:solidFill>
                <a:latin typeface="Calibri" pitchFamily="34" charset="0"/>
                <a:ea typeface="Calibri" pitchFamily="34" charset="-122"/>
                <a:cs typeface="Calibri" pitchFamily="34" charset="-120"/>
              </a:rPr>
              <a:t>Merci</a:t>
            </a:r>
            <a:endParaRPr lang="en-US" sz="5400" dirty="0"/>
          </a:p>
        </p:txBody>
      </p:sp>
      <p:sp>
        <p:nvSpPr>
          <p:cNvPr id="4" name="Text 2"/>
          <p:cNvSpPr/>
          <p:nvPr/>
        </p:nvSpPr>
        <p:spPr>
          <a:xfrm>
            <a:off x="457200" y="3520440"/>
            <a:ext cx="11274552" cy="548640"/>
          </a:xfrm>
          <a:prstGeom prst="rect">
            <a:avLst/>
          </a:prstGeom>
          <a:noFill/>
          <a:ln/>
        </p:spPr>
        <p:txBody>
          <a:bodyPr wrap="square" rtlCol="0" anchor="ctr"/>
          <a:lstStyle/>
          <a:p>
            <a:pPr algn="ctr" indent="0" marL="0">
              <a:buNone/>
            </a:pPr>
            <a:r>
              <a:rPr lang="en-US" sz="2200" i="1" dirty="0">
                <a:solidFill>
                  <a:srgbClr val="10B981"/>
                </a:solidFill>
                <a:latin typeface="Calibri" pitchFamily="34" charset="0"/>
                <a:ea typeface="Calibri" pitchFamily="34" charset="-122"/>
                <a:cs typeface="Calibri" pitchFamily="34" charset="-120"/>
              </a:rPr>
              <a:t>Hafedh Amrouch</a:t>
            </a:r>
            <a:endParaRPr lang="en-US" sz="2200" dirty="0"/>
          </a:p>
        </p:txBody>
      </p:sp>
      <p:sp>
        <p:nvSpPr>
          <p:cNvPr id="5" name="Shape 3"/>
          <p:cNvSpPr/>
          <p:nvPr/>
        </p:nvSpPr>
        <p:spPr>
          <a:xfrm>
            <a:off x="3351276" y="5120640"/>
            <a:ext cx="5486400" cy="0"/>
          </a:xfrm>
          <a:prstGeom prst="line">
            <a:avLst/>
          </a:prstGeom>
          <a:noFill/>
          <a:ln w="12700">
            <a:solidFill>
              <a:srgbClr val="10B981"/>
            </a:solidFill>
            <a:prstDash val="solid"/>
          </a:ln>
        </p:spPr>
      </p:sp>
      <p:sp>
        <p:nvSpPr>
          <p:cNvPr id="6" name="Text 4"/>
          <p:cNvSpPr/>
          <p:nvPr/>
        </p:nvSpPr>
        <p:spPr>
          <a:xfrm>
            <a:off x="457200" y="5257800"/>
            <a:ext cx="11274552" cy="548640"/>
          </a:xfrm>
          <a:prstGeom prst="rect">
            <a:avLst/>
          </a:prstGeom>
          <a:noFill/>
          <a:ln/>
        </p:spPr>
        <p:txBody>
          <a:bodyPr wrap="square" rtlCol="0" anchor="ctr"/>
          <a:lstStyle/>
          <a:p>
            <a:pPr algn="ctr" indent="0" marL="0">
              <a:buNone/>
            </a:pPr>
            <a:r>
              <a:rPr lang="en-US" sz="1200" dirty="0">
                <a:solidFill>
                  <a:srgbClr val="CBD5E1"/>
                </a:solidFill>
                <a:latin typeface="Calibri" pitchFamily="34" charset="0"/>
                <a:ea typeface="Calibri" pitchFamily="34" charset="-122"/>
                <a:cs typeface="Calibri" pitchFamily="34" charset="-120"/>
              </a:rPr>
              <a:t>hafedh.amrouch@gmail.com  |  00216 50 250 212  |  Tunis, Tunisie  |  linkedin.com/in/amir-sfaxi-097bb335b</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CV Transformer</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CV — Hafedh Amrouch</dc:title>
  <dc:subject>CV généré automatiquement</dc:subject>
  <dc:creator>Agent de transformation de CV</dc:creator>
  <cp:lastModifiedBy>Agent de transformation de CV</cp:lastModifiedBy>
  <cp:revision>1</cp:revision>
  <dcterms:created xsi:type="dcterms:W3CDTF">2026-08-07T15:50:37Z</dcterms:created>
  <dcterms:modified xsi:type="dcterms:W3CDTF">2026-08-07T15:50:37Z</dcterms:modified>
</cp:coreProperties>
</file>